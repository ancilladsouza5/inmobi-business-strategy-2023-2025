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 Bold" panose="020B0604020202020204" charset="0"/>
      <p:regular r:id="rId13"/>
    </p:embeddedFont>
    <p:embeddedFont>
      <p:font typeface="Calibri (MS) Italics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rial Bold" panose="020B0704020202020204" pitchFamily="34" charset="0"/>
      <p:regular r:id="rId19"/>
      <p:bold r:id="rId20"/>
    </p:embeddedFont>
    <p:embeddedFont>
      <p:font typeface="Calibri (MS)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0083803" cy="10312403"/>
            <a:chOff x="0" y="0"/>
            <a:chExt cx="13445071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45110" cy="13749910"/>
            </a:xfrm>
            <a:custGeom>
              <a:avLst/>
              <a:gdLst/>
              <a:ahLst/>
              <a:cxnLst/>
              <a:rect l="l" t="t" r="r" b="b"/>
              <a:pathLst>
                <a:path w="13445110" h="13749910">
                  <a:moveTo>
                    <a:pt x="0" y="0"/>
                  </a:moveTo>
                  <a:lnTo>
                    <a:pt x="13445110" y="0"/>
                  </a:lnTo>
                  <a:lnTo>
                    <a:pt x="1344511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045703" y="-12697"/>
            <a:ext cx="171707" cy="10312403"/>
            <a:chOff x="0" y="0"/>
            <a:chExt cx="228943" cy="137498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981" cy="13749910"/>
            </a:xfrm>
            <a:custGeom>
              <a:avLst/>
              <a:gdLst/>
              <a:ahLst/>
              <a:cxnLst/>
              <a:rect l="l" t="t" r="r" b="b"/>
              <a:pathLst>
                <a:path w="228981" h="13749910">
                  <a:moveTo>
                    <a:pt x="0" y="0"/>
                  </a:moveTo>
                  <a:lnTo>
                    <a:pt x="228981" y="0"/>
                  </a:lnTo>
                  <a:lnTo>
                    <a:pt x="22898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14400" y="1280160"/>
            <a:ext cx="8595360" cy="1097280"/>
            <a:chOff x="0" y="0"/>
            <a:chExt cx="11460480" cy="14630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632" b="-10263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460480" cy="14916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400" b="1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InMobi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2468880"/>
            <a:ext cx="8595360" cy="914400"/>
            <a:chOff x="0" y="0"/>
            <a:chExt cx="1146048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60480" cy="1219200"/>
            </a:xfrm>
            <a:custGeom>
              <a:avLst/>
              <a:gdLst/>
              <a:ahLst/>
              <a:cxnLst/>
              <a:rect l="l" t="t" r="r" b="b"/>
              <a:pathLst>
                <a:path w="11460480" h="1219200">
                  <a:moveTo>
                    <a:pt x="0" y="0"/>
                  </a:moveTo>
                  <a:lnTo>
                    <a:pt x="11460480" y="0"/>
                  </a:lnTo>
                  <a:lnTo>
                    <a:pt x="11460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3159" b="-13315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146048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Strategy Evaluation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291840"/>
            <a:ext cx="8595360" cy="731520"/>
            <a:chOff x="0" y="0"/>
            <a:chExt cx="1146048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60480" cy="975360"/>
            </a:xfrm>
            <a:custGeom>
              <a:avLst/>
              <a:gdLst/>
              <a:ahLst/>
              <a:cxnLst/>
              <a:rect l="l" t="t" r="r" b="b"/>
              <a:pathLst>
                <a:path w="11460480" h="975360">
                  <a:moveTo>
                    <a:pt x="0" y="0"/>
                  </a:moveTo>
                  <a:lnTo>
                    <a:pt x="11460480" y="0"/>
                  </a:lnTo>
                  <a:lnTo>
                    <a:pt x="11460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46048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A8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the Digital Experience Era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8997" y="4363717"/>
            <a:ext cx="6451597" cy="50797"/>
            <a:chOff x="0" y="0"/>
            <a:chExt cx="8602129" cy="677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02091" cy="67691"/>
            </a:xfrm>
            <a:custGeom>
              <a:avLst/>
              <a:gdLst/>
              <a:ahLst/>
              <a:cxnLst/>
              <a:rect l="l" t="t" r="r" b="b"/>
              <a:pathLst>
                <a:path w="8602091" h="67691">
                  <a:moveTo>
                    <a:pt x="0" y="0"/>
                  </a:moveTo>
                  <a:lnTo>
                    <a:pt x="8602091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426118" b="-2426174"/>
              </a:stretch>
            </a:blipFill>
            <a:ln w="508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88997" y="5563105"/>
            <a:ext cx="8595360" cy="731520"/>
            <a:chOff x="0" y="0"/>
            <a:chExt cx="11460480" cy="9753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60480" cy="975360"/>
            </a:xfrm>
            <a:custGeom>
              <a:avLst/>
              <a:gdLst/>
              <a:ahLst/>
              <a:cxnLst/>
              <a:rect l="l" t="t" r="r" b="b"/>
              <a:pathLst>
                <a:path w="11460480" h="975360">
                  <a:moveTo>
                    <a:pt x="0" y="0"/>
                  </a:moveTo>
                  <a:lnTo>
                    <a:pt x="11460480" y="0"/>
                  </a:lnTo>
                  <a:lnTo>
                    <a:pt x="11460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46048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A8D0E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Strategic Business Analysis of InMobi Group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8997" y="6294625"/>
            <a:ext cx="8595360" cy="640080"/>
            <a:chOff x="0" y="0"/>
            <a:chExt cx="1146048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60480" cy="853440"/>
            </a:xfrm>
            <a:custGeom>
              <a:avLst/>
              <a:gdLst/>
              <a:ahLst/>
              <a:cxnLst/>
              <a:rect l="l" t="t" r="r" b="b"/>
              <a:pathLst>
                <a:path w="11460480" h="853440">
                  <a:moveTo>
                    <a:pt x="0" y="0"/>
                  </a:moveTo>
                  <a:lnTo>
                    <a:pt x="11460480" y="0"/>
                  </a:lnTo>
                  <a:lnTo>
                    <a:pt x="11460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4604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A8D0E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2023 – 2025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8229600"/>
            <a:ext cx="8595360" cy="548640"/>
            <a:chOff x="0" y="0"/>
            <a:chExt cx="1146048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60480" cy="731520"/>
            </a:xfrm>
            <a:custGeom>
              <a:avLst/>
              <a:gdLst/>
              <a:ahLst/>
              <a:cxnLst/>
              <a:rect l="l" t="t" r="r" b="b"/>
              <a:pathLst>
                <a:path w="11460480" h="731520">
                  <a:moveTo>
                    <a:pt x="0" y="0"/>
                  </a:moveTo>
                  <a:lnTo>
                    <a:pt x="11460480" y="0"/>
                  </a:lnTo>
                  <a:lnTo>
                    <a:pt x="1146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265" b="-25526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14604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AAC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8814816"/>
            <a:ext cx="8595360" cy="640080"/>
            <a:chOff x="0" y="0"/>
            <a:chExt cx="1146048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60480" cy="853440"/>
            </a:xfrm>
            <a:custGeom>
              <a:avLst/>
              <a:gdLst/>
              <a:ahLst/>
              <a:cxnLst/>
              <a:rect l="l" t="t" r="r" b="b"/>
              <a:pathLst>
                <a:path w="11460480" h="853440">
                  <a:moveTo>
                    <a:pt x="0" y="0"/>
                  </a:moveTo>
                  <a:lnTo>
                    <a:pt x="11460480" y="0"/>
                  </a:lnTo>
                  <a:lnTo>
                    <a:pt x="11460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11460480" cy="920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Ancilla Fiona Dsouza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685783" y="6388103"/>
            <a:ext cx="2219963" cy="2402843"/>
            <a:chOff x="0" y="0"/>
            <a:chExt cx="2959951" cy="320379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59989" cy="3203829"/>
            </a:xfrm>
            <a:custGeom>
              <a:avLst/>
              <a:gdLst/>
              <a:ahLst/>
              <a:cxnLst/>
              <a:rect l="l" t="t" r="r" b="b"/>
              <a:pathLst>
                <a:path w="2959989" h="3203829">
                  <a:moveTo>
                    <a:pt x="0" y="0"/>
                  </a:moveTo>
                  <a:lnTo>
                    <a:pt x="2959989" y="0"/>
                  </a:lnTo>
                  <a:lnTo>
                    <a:pt x="29599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698480" y="6583680"/>
            <a:ext cx="2194560" cy="914400"/>
            <a:chOff x="0" y="0"/>
            <a:chExt cx="29260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26080" cy="1219200"/>
            </a:xfrm>
            <a:custGeom>
              <a:avLst/>
              <a:gdLst/>
              <a:ahLst/>
              <a:cxnLst/>
              <a:rect l="l" t="t" r="r" b="b"/>
              <a:pathLst>
                <a:path w="2926080" h="121920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292608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2B+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698480" y="7534656"/>
            <a:ext cx="2194560" cy="640080"/>
            <a:chOff x="0" y="0"/>
            <a:chExt cx="2926080" cy="853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6080" cy="853440"/>
            </a:xfrm>
            <a:custGeom>
              <a:avLst/>
              <a:gdLst/>
              <a:ahLst/>
              <a:cxnLst/>
              <a:rect l="l" t="t" r="r" b="b"/>
              <a:pathLst>
                <a:path w="2926080" h="85344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05" b="-1680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Users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154663" y="6388103"/>
            <a:ext cx="2219963" cy="2402843"/>
            <a:chOff x="0" y="0"/>
            <a:chExt cx="2959951" cy="32037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959989" cy="3203829"/>
            </a:xfrm>
            <a:custGeom>
              <a:avLst/>
              <a:gdLst/>
              <a:ahLst/>
              <a:cxnLst/>
              <a:rect l="l" t="t" r="r" b="b"/>
              <a:pathLst>
                <a:path w="2959989" h="3203829">
                  <a:moveTo>
                    <a:pt x="0" y="0"/>
                  </a:moveTo>
                  <a:lnTo>
                    <a:pt x="2959989" y="0"/>
                  </a:lnTo>
                  <a:lnTo>
                    <a:pt x="29599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3167360" y="6583680"/>
            <a:ext cx="2194560" cy="914400"/>
            <a:chOff x="0" y="0"/>
            <a:chExt cx="29260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926080" cy="1219200"/>
            </a:xfrm>
            <a:custGeom>
              <a:avLst/>
              <a:gdLst/>
              <a:ahLst/>
              <a:cxnLst/>
              <a:rect l="l" t="t" r="r" b="b"/>
              <a:pathLst>
                <a:path w="2926080" h="121920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292608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450M+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67360" y="7534656"/>
            <a:ext cx="2194560" cy="640080"/>
            <a:chOff x="0" y="0"/>
            <a:chExt cx="2926080" cy="853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6080" cy="853440"/>
            </a:xfrm>
            <a:custGeom>
              <a:avLst/>
              <a:gdLst/>
              <a:ahLst/>
              <a:cxnLst/>
              <a:rect l="l" t="t" r="r" b="b"/>
              <a:pathLst>
                <a:path w="2926080" h="85344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05" b="-1680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Devices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623543" y="6388103"/>
            <a:ext cx="2219963" cy="2402843"/>
            <a:chOff x="0" y="0"/>
            <a:chExt cx="2959951" cy="320379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959989" cy="3203829"/>
            </a:xfrm>
            <a:custGeom>
              <a:avLst/>
              <a:gdLst/>
              <a:ahLst/>
              <a:cxnLst/>
              <a:rect l="l" t="t" r="r" b="b"/>
              <a:pathLst>
                <a:path w="2959989" h="3203829">
                  <a:moveTo>
                    <a:pt x="0" y="0"/>
                  </a:moveTo>
                  <a:lnTo>
                    <a:pt x="2959989" y="0"/>
                  </a:lnTo>
                  <a:lnTo>
                    <a:pt x="29599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5636240" y="6583680"/>
            <a:ext cx="2194560" cy="914400"/>
            <a:chOff x="0" y="0"/>
            <a:chExt cx="29260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26080" cy="1219200"/>
            </a:xfrm>
            <a:custGeom>
              <a:avLst/>
              <a:gdLst/>
              <a:ahLst/>
              <a:cxnLst/>
              <a:rect l="l" t="t" r="r" b="b"/>
              <a:pathLst>
                <a:path w="2926080" h="1219200">
                  <a:moveTo>
                    <a:pt x="0" y="0"/>
                  </a:moveTo>
                  <a:lnTo>
                    <a:pt x="2926080" y="0"/>
                  </a:lnTo>
                  <a:lnTo>
                    <a:pt x="2926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r="-3459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2926080" cy="1247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200+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636240" y="7534656"/>
            <a:ext cx="2194560" cy="640080"/>
            <a:chOff x="0" y="0"/>
            <a:chExt cx="2926080" cy="853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926080" cy="853440"/>
            </a:xfrm>
            <a:custGeom>
              <a:avLst/>
              <a:gdLst/>
              <a:ahLst/>
              <a:cxnLst/>
              <a:rect l="l" t="t" r="r" b="b"/>
              <a:pathLst>
                <a:path w="2926080" h="85344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05" b="-1680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9260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Countries</a:t>
              </a:r>
            </a:p>
          </p:txBody>
        </p:sp>
      </p:grpSp>
      <p:sp>
        <p:nvSpPr>
          <p:cNvPr id="53" name="Freeform 53"/>
          <p:cNvSpPr/>
          <p:nvPr/>
        </p:nvSpPr>
        <p:spPr>
          <a:xfrm>
            <a:off x="10217410" y="50436"/>
            <a:ext cx="8070590" cy="5984604"/>
          </a:xfrm>
          <a:custGeom>
            <a:avLst/>
            <a:gdLst/>
            <a:ahLst/>
            <a:cxnLst/>
            <a:rect l="l" t="t" r="r" b="b"/>
            <a:pathLst>
              <a:path w="8070590" h="5984604">
                <a:moveTo>
                  <a:pt x="0" y="0"/>
                </a:moveTo>
                <a:lnTo>
                  <a:pt x="8070590" y="0"/>
                </a:lnTo>
                <a:lnTo>
                  <a:pt x="8070590" y="5984604"/>
                </a:lnTo>
                <a:lnTo>
                  <a:pt x="0" y="598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3" t="-17225" b="-3403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 to InMobi Group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Disrupting the Traditional Funnel: From Mobile-First to Experience-First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503" y="1998983"/>
            <a:ext cx="5511803" cy="6974843"/>
            <a:chOff x="0" y="0"/>
            <a:chExt cx="7349071" cy="92997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49109" cy="9299829"/>
            </a:xfrm>
            <a:custGeom>
              <a:avLst/>
              <a:gdLst/>
              <a:ahLst/>
              <a:cxnLst/>
              <a:rect l="l" t="t" r="r" b="b"/>
              <a:pathLst>
                <a:path w="7349109" h="9299829">
                  <a:moveTo>
                    <a:pt x="0" y="0"/>
                  </a:moveTo>
                  <a:lnTo>
                    <a:pt x="7349109" y="0"/>
                  </a:lnTo>
                  <a:lnTo>
                    <a:pt x="7349109" y="9299829"/>
                  </a:lnTo>
                  <a:lnTo>
                    <a:pt x="0" y="9299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4503" y="1998983"/>
            <a:ext cx="5511803" cy="1214123"/>
            <a:chOff x="0" y="0"/>
            <a:chExt cx="7349071" cy="16188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49109" cy="1618869"/>
            </a:xfrm>
            <a:custGeom>
              <a:avLst/>
              <a:gdLst/>
              <a:ahLst/>
              <a:cxnLst/>
              <a:rect l="l" t="t" r="r" b="b"/>
              <a:pathLst>
                <a:path w="7349109" h="1618869">
                  <a:moveTo>
                    <a:pt x="0" y="0"/>
                  </a:moveTo>
                  <a:lnTo>
                    <a:pt x="7349109" y="0"/>
                  </a:lnTo>
                  <a:lnTo>
                    <a:pt x="734910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63959" y="2126999"/>
            <a:ext cx="903227" cy="903227"/>
            <a:chOff x="0" y="0"/>
            <a:chExt cx="1204303" cy="12043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4341" cy="1204341"/>
            </a:xfrm>
            <a:custGeom>
              <a:avLst/>
              <a:gdLst/>
              <a:ahLst/>
              <a:cxnLst/>
              <a:rect l="l" t="t" r="r" b="b"/>
              <a:pathLst>
                <a:path w="1204341" h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cubicBezTo>
                    <a:pt x="934593" y="0"/>
                    <a:pt x="1204341" y="269621"/>
                    <a:pt x="1204341" y="602107"/>
                  </a:cubicBezTo>
                  <a:cubicBezTo>
                    <a:pt x="1204341" y="934593"/>
                    <a:pt x="934720" y="1204341"/>
                    <a:pt x="602107" y="1204341"/>
                  </a:cubicBezTo>
                  <a:cubicBezTo>
                    <a:pt x="269494" y="1204341"/>
                    <a:pt x="0" y="934720"/>
                    <a:pt x="0" y="60210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6656" y="2157984"/>
            <a:ext cx="877824" cy="804672"/>
            <a:chOff x="0" y="0"/>
            <a:chExt cx="1170432" cy="10728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0432" cy="1072896"/>
            </a:xfrm>
            <a:custGeom>
              <a:avLst/>
              <a:gdLst/>
              <a:ahLst/>
              <a:cxnLst/>
              <a:rect l="l" t="t" r="r" b="b"/>
              <a:pathLst>
                <a:path w="1170432" h="1072896">
                  <a:moveTo>
                    <a:pt x="0" y="0"/>
                  </a:moveTo>
                  <a:lnTo>
                    <a:pt x="1170432" y="0"/>
                  </a:lnTo>
                  <a:lnTo>
                    <a:pt x="117043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r="-6761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170432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00784" y="2103120"/>
            <a:ext cx="4114800" cy="1239348"/>
            <a:chOff x="0" y="0"/>
            <a:chExt cx="5486400" cy="16524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86400" cy="1652464"/>
            </a:xfrm>
            <a:custGeom>
              <a:avLst/>
              <a:gdLst/>
              <a:ahLst/>
              <a:cxnLst/>
              <a:rect l="l" t="t" r="r" b="b"/>
              <a:pathLst>
                <a:path w="5486400" h="1652464">
                  <a:moveTo>
                    <a:pt x="0" y="0"/>
                  </a:moveTo>
                  <a:lnTo>
                    <a:pt x="5486400" y="0"/>
                  </a:lnTo>
                  <a:lnTo>
                    <a:pt x="5486400" y="1652464"/>
                  </a:lnTo>
                  <a:lnTo>
                    <a:pt x="0" y="165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56" b="727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5486400" cy="17286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Infrastructure Engine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6656" y="3200400"/>
            <a:ext cx="5029200" cy="758835"/>
            <a:chOff x="0" y="0"/>
            <a:chExt cx="6705600" cy="10117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05600" cy="1011780"/>
            </a:xfrm>
            <a:custGeom>
              <a:avLst/>
              <a:gdLst/>
              <a:ahLst/>
              <a:cxnLst/>
              <a:rect l="l" t="t" r="r" b="b"/>
              <a:pathLst>
                <a:path w="6705600" h="1011780">
                  <a:moveTo>
                    <a:pt x="0" y="0"/>
                  </a:moveTo>
                  <a:lnTo>
                    <a:pt x="6705600" y="0"/>
                  </a:lnTo>
                  <a:lnTo>
                    <a:pt x="6705600" y="1011780"/>
                  </a:lnTo>
                  <a:lnTo>
                    <a:pt x="0" y="10117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12" b="-5926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6705600" cy="1087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59"/>
                </a:lnSpc>
              </a:pPr>
              <a:r>
                <a:rPr lang="en-US" sz="3799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B2B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3959" y="4321185"/>
            <a:ext cx="5029200" cy="301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InMobi Advertising: A global programmatic advertising and monetization powerhouse connecting brands to over 2 billion active mobile users on the open web. Driven by advanced analytics, predictive intelligence, and cookie-less identity resolution.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388103" y="1998983"/>
            <a:ext cx="5511803" cy="6974843"/>
            <a:chOff x="0" y="0"/>
            <a:chExt cx="7349071" cy="92997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49109" cy="9299829"/>
            </a:xfrm>
            <a:custGeom>
              <a:avLst/>
              <a:gdLst/>
              <a:ahLst/>
              <a:cxnLst/>
              <a:rect l="l" t="t" r="r" b="b"/>
              <a:pathLst>
                <a:path w="7349109" h="9299829">
                  <a:moveTo>
                    <a:pt x="0" y="0"/>
                  </a:moveTo>
                  <a:lnTo>
                    <a:pt x="7349109" y="0"/>
                  </a:lnTo>
                  <a:lnTo>
                    <a:pt x="7349109" y="9299829"/>
                  </a:lnTo>
                  <a:lnTo>
                    <a:pt x="0" y="9299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388103" y="1998983"/>
            <a:ext cx="5511803" cy="1214123"/>
            <a:chOff x="0" y="0"/>
            <a:chExt cx="7349071" cy="161883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49109" cy="1618869"/>
            </a:xfrm>
            <a:custGeom>
              <a:avLst/>
              <a:gdLst/>
              <a:ahLst/>
              <a:cxnLst/>
              <a:rect l="l" t="t" r="r" b="b"/>
              <a:pathLst>
                <a:path w="7349109" h="1618869">
                  <a:moveTo>
                    <a:pt x="0" y="0"/>
                  </a:moveTo>
                  <a:lnTo>
                    <a:pt x="7349109" y="0"/>
                  </a:lnTo>
                  <a:lnTo>
                    <a:pt x="734910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607559" y="2126999"/>
            <a:ext cx="903227" cy="903227"/>
            <a:chOff x="0" y="0"/>
            <a:chExt cx="1204303" cy="120430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04341" cy="1204341"/>
            </a:xfrm>
            <a:custGeom>
              <a:avLst/>
              <a:gdLst/>
              <a:ahLst/>
              <a:cxnLst/>
              <a:rect l="l" t="t" r="r" b="b"/>
              <a:pathLst>
                <a:path w="1204341" h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cubicBezTo>
                    <a:pt x="934593" y="0"/>
                    <a:pt x="1204341" y="269621"/>
                    <a:pt x="1204341" y="602107"/>
                  </a:cubicBezTo>
                  <a:cubicBezTo>
                    <a:pt x="1204341" y="934593"/>
                    <a:pt x="934720" y="1204341"/>
                    <a:pt x="602107" y="1204341"/>
                  </a:cubicBezTo>
                  <a:cubicBezTo>
                    <a:pt x="269494" y="1204341"/>
                    <a:pt x="0" y="934720"/>
                    <a:pt x="0" y="60210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620256" y="2157984"/>
            <a:ext cx="877824" cy="804672"/>
            <a:chOff x="0" y="0"/>
            <a:chExt cx="1170432" cy="10728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70432" cy="1072896"/>
            </a:xfrm>
            <a:custGeom>
              <a:avLst/>
              <a:gdLst/>
              <a:ahLst/>
              <a:cxnLst/>
              <a:rect l="l" t="t" r="r" b="b"/>
              <a:pathLst>
                <a:path w="1170432" h="1072896">
                  <a:moveTo>
                    <a:pt x="0" y="0"/>
                  </a:moveTo>
                  <a:lnTo>
                    <a:pt x="1170432" y="0"/>
                  </a:lnTo>
                  <a:lnTo>
                    <a:pt x="117043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r="-6761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170432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44384" y="2103120"/>
            <a:ext cx="4114800" cy="705948"/>
            <a:chOff x="0" y="0"/>
            <a:chExt cx="5486400" cy="9412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86400" cy="941264"/>
            </a:xfrm>
            <a:custGeom>
              <a:avLst/>
              <a:gdLst/>
              <a:ahLst/>
              <a:cxnLst/>
              <a:rect l="l" t="t" r="r" b="b"/>
              <a:pathLst>
                <a:path w="5486400" h="941264">
                  <a:moveTo>
                    <a:pt x="0" y="0"/>
                  </a:moveTo>
                  <a:lnTo>
                    <a:pt x="5486400" y="0"/>
                  </a:lnTo>
                  <a:lnTo>
                    <a:pt x="548640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352" b="-6279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548640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Discovery Layer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20256" y="3200400"/>
            <a:ext cx="5029200" cy="758838"/>
            <a:chOff x="0" y="0"/>
            <a:chExt cx="6705600" cy="101178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705600" cy="1011783"/>
            </a:xfrm>
            <a:custGeom>
              <a:avLst/>
              <a:gdLst/>
              <a:ahLst/>
              <a:cxnLst/>
              <a:rect l="l" t="t" r="r" b="b"/>
              <a:pathLst>
                <a:path w="6705600" h="1011783">
                  <a:moveTo>
                    <a:pt x="0" y="0"/>
                  </a:moveTo>
                  <a:lnTo>
                    <a:pt x="6705600" y="0"/>
                  </a:lnTo>
                  <a:lnTo>
                    <a:pt x="6705600" y="1011783"/>
                  </a:lnTo>
                  <a:lnTo>
                    <a:pt x="0" y="10117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12" b="-5926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6705600" cy="10879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B2C &amp; OEM Integrated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607559" y="4272915"/>
            <a:ext cx="5029200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Glance Smart Lock Screen: Backed by Google and Jio Platforms, pre-integrated with major smartphone OEMs. Operates directly on the device's 'Surface Zero' (the lock screen) across 450+ million devices globally.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2331703" y="1998983"/>
            <a:ext cx="5511803" cy="6974843"/>
            <a:chOff x="0" y="0"/>
            <a:chExt cx="7349071" cy="929979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49109" cy="9299829"/>
            </a:xfrm>
            <a:custGeom>
              <a:avLst/>
              <a:gdLst/>
              <a:ahLst/>
              <a:cxnLst/>
              <a:rect l="l" t="t" r="r" b="b"/>
              <a:pathLst>
                <a:path w="7349109" h="9299829">
                  <a:moveTo>
                    <a:pt x="0" y="0"/>
                  </a:moveTo>
                  <a:lnTo>
                    <a:pt x="7349109" y="0"/>
                  </a:lnTo>
                  <a:lnTo>
                    <a:pt x="7349109" y="9299829"/>
                  </a:lnTo>
                  <a:lnTo>
                    <a:pt x="0" y="9299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0E8F5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2331703" y="1998983"/>
            <a:ext cx="5511803" cy="1214123"/>
            <a:chOff x="0" y="0"/>
            <a:chExt cx="7349071" cy="161883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49109" cy="1618869"/>
            </a:xfrm>
            <a:custGeom>
              <a:avLst/>
              <a:gdLst/>
              <a:ahLst/>
              <a:cxnLst/>
              <a:rect l="l" t="t" r="r" b="b"/>
              <a:pathLst>
                <a:path w="7349109" h="1618869">
                  <a:moveTo>
                    <a:pt x="0" y="0"/>
                  </a:moveTo>
                  <a:lnTo>
                    <a:pt x="7349109" y="0"/>
                  </a:lnTo>
                  <a:lnTo>
                    <a:pt x="734910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2551159" y="2126999"/>
            <a:ext cx="903227" cy="903227"/>
            <a:chOff x="0" y="0"/>
            <a:chExt cx="1204303" cy="120430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04341" cy="1204341"/>
            </a:xfrm>
            <a:custGeom>
              <a:avLst/>
              <a:gdLst/>
              <a:ahLst/>
              <a:cxnLst/>
              <a:rect l="l" t="t" r="r" b="b"/>
              <a:pathLst>
                <a:path w="1204341" h="1204341">
                  <a:moveTo>
                    <a:pt x="0" y="602107"/>
                  </a:moveTo>
                  <a:cubicBezTo>
                    <a:pt x="0" y="269621"/>
                    <a:pt x="269621" y="0"/>
                    <a:pt x="602107" y="0"/>
                  </a:cubicBezTo>
                  <a:cubicBezTo>
                    <a:pt x="934593" y="0"/>
                    <a:pt x="1204341" y="269621"/>
                    <a:pt x="1204341" y="602107"/>
                  </a:cubicBezTo>
                  <a:cubicBezTo>
                    <a:pt x="1204341" y="934593"/>
                    <a:pt x="934720" y="1204341"/>
                    <a:pt x="602107" y="1204341"/>
                  </a:cubicBezTo>
                  <a:cubicBezTo>
                    <a:pt x="269494" y="1204341"/>
                    <a:pt x="0" y="934720"/>
                    <a:pt x="0" y="60210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2563856" y="2157984"/>
            <a:ext cx="877824" cy="804672"/>
            <a:chOff x="0" y="0"/>
            <a:chExt cx="1170432" cy="107289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70432" cy="1072896"/>
            </a:xfrm>
            <a:custGeom>
              <a:avLst/>
              <a:gdLst/>
              <a:ahLst/>
              <a:cxnLst/>
              <a:rect l="l" t="t" r="r" b="b"/>
              <a:pathLst>
                <a:path w="1170432" h="1072896">
                  <a:moveTo>
                    <a:pt x="0" y="0"/>
                  </a:moveTo>
                  <a:lnTo>
                    <a:pt x="1170432" y="0"/>
                  </a:lnTo>
                  <a:lnTo>
                    <a:pt x="1170432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r="-6761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170432" cy="1091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587984" y="2103120"/>
            <a:ext cx="4114800" cy="1239348"/>
            <a:chOff x="0" y="0"/>
            <a:chExt cx="5486400" cy="165246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1652464"/>
            </a:xfrm>
            <a:custGeom>
              <a:avLst/>
              <a:gdLst/>
              <a:ahLst/>
              <a:cxnLst/>
              <a:rect l="l" t="t" r="r" b="b"/>
              <a:pathLst>
                <a:path w="5486400" h="1652464">
                  <a:moveTo>
                    <a:pt x="0" y="0"/>
                  </a:moveTo>
                  <a:lnTo>
                    <a:pt x="5486400" y="0"/>
                  </a:lnTo>
                  <a:lnTo>
                    <a:pt x="5486400" y="1652464"/>
                  </a:lnTo>
                  <a:lnTo>
                    <a:pt x="0" y="165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56" b="727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76200"/>
              <a:ext cx="5486400" cy="17286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 &amp; Commerce Ecosystem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563856" y="3200400"/>
            <a:ext cx="5029200" cy="758838"/>
            <a:chOff x="0" y="0"/>
            <a:chExt cx="6705600" cy="101178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05600" cy="1011783"/>
            </a:xfrm>
            <a:custGeom>
              <a:avLst/>
              <a:gdLst/>
              <a:ahLst/>
              <a:cxnLst/>
              <a:rect l="l" t="t" r="r" b="b"/>
              <a:pathLst>
                <a:path w="6705600" h="1011783">
                  <a:moveTo>
                    <a:pt x="0" y="0"/>
                  </a:moveTo>
                  <a:lnTo>
                    <a:pt x="6705600" y="0"/>
                  </a:lnTo>
                  <a:lnTo>
                    <a:pt x="6705600" y="1011783"/>
                  </a:lnTo>
                  <a:lnTo>
                    <a:pt x="0" y="10117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012" b="-5926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6705600" cy="10879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Nostra &amp; Roposo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595231" y="4321185"/>
            <a:ext cx="5029200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Nostra: India &amp; Southeast Asia's largest lock-screen gaming platform. Roposo: drives the creator-led economy through immersive 'Hyperlive' streaming and instant AI-driven digital commerce.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Company Overview: InMobi Group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global leader making mobile and lock screen experiences simple and instant.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503" y="1998983"/>
            <a:ext cx="9535163" cy="2402843"/>
            <a:chOff x="0" y="0"/>
            <a:chExt cx="12713551" cy="32037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13589" cy="3203829"/>
            </a:xfrm>
            <a:custGeom>
              <a:avLst/>
              <a:gdLst/>
              <a:ahLst/>
              <a:cxnLst/>
              <a:rect l="l" t="t" r="r" b="b"/>
              <a:pathLst>
                <a:path w="12713589" h="3203829">
                  <a:moveTo>
                    <a:pt x="0" y="0"/>
                  </a:moveTo>
                  <a:lnTo>
                    <a:pt x="12713589" y="0"/>
                  </a:lnTo>
                  <a:lnTo>
                    <a:pt x="127135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4503" y="1998983"/>
            <a:ext cx="153419" cy="2402843"/>
            <a:chOff x="0" y="0"/>
            <a:chExt cx="204559" cy="32037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597" cy="3203829"/>
            </a:xfrm>
            <a:custGeom>
              <a:avLst/>
              <a:gdLst/>
              <a:ahLst/>
              <a:cxnLst/>
              <a:rect l="l" t="t" r="r" b="b"/>
              <a:pathLst>
                <a:path w="204597" h="3203829">
                  <a:moveTo>
                    <a:pt x="0" y="0"/>
                  </a:moveTo>
                  <a:lnTo>
                    <a:pt x="204597" y="0"/>
                  </a:lnTo>
                  <a:lnTo>
                    <a:pt x="204597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8096" y="2157984"/>
            <a:ext cx="9052560" cy="705948"/>
            <a:chOff x="0" y="0"/>
            <a:chExt cx="12070080" cy="9412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70080" cy="941264"/>
            </a:xfrm>
            <a:custGeom>
              <a:avLst/>
              <a:gdLst/>
              <a:ahLst/>
              <a:cxnLst/>
              <a:rect l="l" t="t" r="r" b="b"/>
              <a:pathLst>
                <a:path w="12070080" h="941264">
                  <a:moveTo>
                    <a:pt x="0" y="0"/>
                  </a:moveTo>
                  <a:lnTo>
                    <a:pt x="12070080" y="0"/>
                  </a:lnTo>
                  <a:lnTo>
                    <a:pt x="1207008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03" b="-18872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207008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is InMobi?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8096" y="2779776"/>
            <a:ext cx="9052560" cy="1609148"/>
            <a:chOff x="0" y="0"/>
            <a:chExt cx="12070080" cy="21455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0080" cy="2145531"/>
            </a:xfrm>
            <a:custGeom>
              <a:avLst/>
              <a:gdLst/>
              <a:ahLst/>
              <a:cxnLst/>
              <a:rect l="l" t="t" r="r" b="b"/>
              <a:pathLst>
                <a:path w="12070080" h="2145531">
                  <a:moveTo>
                    <a:pt x="0" y="0"/>
                  </a:moveTo>
                  <a:lnTo>
                    <a:pt x="12070080" y="0"/>
                  </a:lnTo>
                  <a:lnTo>
                    <a:pt x="12070080" y="2145531"/>
                  </a:lnTo>
                  <a:lnTo>
                    <a:pt x="0" y="2145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15" b="-5791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070080" cy="2193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InMobi is a leading global technology company building smart tools for mobile marketing, advertising, and content discovery — connecting brands and publishers to 2B+ mobile users worldwide. HQ in Singapore with major offices in Bangalore and San Mateo.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4503" y="4650743"/>
            <a:ext cx="9535163" cy="2402843"/>
            <a:chOff x="0" y="0"/>
            <a:chExt cx="12713551" cy="32037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13589" cy="3203829"/>
            </a:xfrm>
            <a:custGeom>
              <a:avLst/>
              <a:gdLst/>
              <a:ahLst/>
              <a:cxnLst/>
              <a:rect l="l" t="t" r="r" b="b"/>
              <a:pathLst>
                <a:path w="12713589" h="3203829">
                  <a:moveTo>
                    <a:pt x="0" y="0"/>
                  </a:moveTo>
                  <a:lnTo>
                    <a:pt x="12713589" y="0"/>
                  </a:lnTo>
                  <a:lnTo>
                    <a:pt x="127135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44503" y="4650743"/>
            <a:ext cx="153419" cy="2402843"/>
            <a:chOff x="0" y="0"/>
            <a:chExt cx="204559" cy="32037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4597" cy="3203829"/>
            </a:xfrm>
            <a:custGeom>
              <a:avLst/>
              <a:gdLst/>
              <a:ahLst/>
              <a:cxnLst/>
              <a:rect l="l" t="t" r="r" b="b"/>
              <a:pathLst>
                <a:path w="204597" h="3203829">
                  <a:moveTo>
                    <a:pt x="0" y="0"/>
                  </a:moveTo>
                  <a:lnTo>
                    <a:pt x="204597" y="0"/>
                  </a:lnTo>
                  <a:lnTo>
                    <a:pt x="204597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68096" y="4809744"/>
            <a:ext cx="9052560" cy="705948"/>
            <a:chOff x="0" y="0"/>
            <a:chExt cx="12070080" cy="94126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70080" cy="941264"/>
            </a:xfrm>
            <a:custGeom>
              <a:avLst/>
              <a:gdLst/>
              <a:ahLst/>
              <a:cxnLst/>
              <a:rect l="l" t="t" r="r" b="b"/>
              <a:pathLst>
                <a:path w="12070080" h="941264">
                  <a:moveTo>
                    <a:pt x="0" y="0"/>
                  </a:moveTo>
                  <a:lnTo>
                    <a:pt x="12070080" y="0"/>
                  </a:lnTo>
                  <a:lnTo>
                    <a:pt x="1207008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03" b="-18872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207008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Reimagining the Mobile Journey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8096" y="5431536"/>
            <a:ext cx="9052560" cy="1609148"/>
            <a:chOff x="0" y="0"/>
            <a:chExt cx="12070080" cy="21455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70080" cy="2145531"/>
            </a:xfrm>
            <a:custGeom>
              <a:avLst/>
              <a:gdLst/>
              <a:ahLst/>
              <a:cxnLst/>
              <a:rect l="l" t="t" r="r" b="b"/>
              <a:pathLst>
                <a:path w="12070080" h="2145531">
                  <a:moveTo>
                    <a:pt x="0" y="0"/>
                  </a:moveTo>
                  <a:lnTo>
                    <a:pt x="12070080" y="0"/>
                  </a:lnTo>
                  <a:lnTo>
                    <a:pt x="12070080" y="2145531"/>
                  </a:lnTo>
                  <a:lnTo>
                    <a:pt x="0" y="2145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15" b="-5791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2070080" cy="2193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InMobi owns Glance (world's leading smart lock screen), Nostra (gaming), and Roposo (live streaming). These platforms help consumers find shopping, news, and games instantly — without searching or downloading apps.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4503" y="7302503"/>
            <a:ext cx="9535163" cy="2402843"/>
            <a:chOff x="0" y="0"/>
            <a:chExt cx="12713551" cy="320379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713589" cy="3203829"/>
            </a:xfrm>
            <a:custGeom>
              <a:avLst/>
              <a:gdLst/>
              <a:ahLst/>
              <a:cxnLst/>
              <a:rect l="l" t="t" r="r" b="b"/>
              <a:pathLst>
                <a:path w="12713589" h="3203829">
                  <a:moveTo>
                    <a:pt x="0" y="0"/>
                  </a:moveTo>
                  <a:lnTo>
                    <a:pt x="12713589" y="0"/>
                  </a:lnTo>
                  <a:lnTo>
                    <a:pt x="1271358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44503" y="7302503"/>
            <a:ext cx="153419" cy="2402843"/>
            <a:chOff x="0" y="0"/>
            <a:chExt cx="204559" cy="320379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4597" cy="3203829"/>
            </a:xfrm>
            <a:custGeom>
              <a:avLst/>
              <a:gdLst/>
              <a:ahLst/>
              <a:cxnLst/>
              <a:rect l="l" t="t" r="r" b="b"/>
              <a:pathLst>
                <a:path w="204597" h="3203829">
                  <a:moveTo>
                    <a:pt x="0" y="0"/>
                  </a:moveTo>
                  <a:lnTo>
                    <a:pt x="204597" y="0"/>
                  </a:lnTo>
                  <a:lnTo>
                    <a:pt x="204597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8096" y="7461504"/>
            <a:ext cx="9052560" cy="705948"/>
            <a:chOff x="0" y="0"/>
            <a:chExt cx="12070080" cy="94126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070080" cy="941264"/>
            </a:xfrm>
            <a:custGeom>
              <a:avLst/>
              <a:gdLst/>
              <a:ahLst/>
              <a:cxnLst/>
              <a:rect l="l" t="t" r="r" b="b"/>
              <a:pathLst>
                <a:path w="12070080" h="941264">
                  <a:moveTo>
                    <a:pt x="0" y="0"/>
                  </a:moveTo>
                  <a:lnTo>
                    <a:pt x="12070080" y="0"/>
                  </a:lnTo>
                  <a:lnTo>
                    <a:pt x="1207008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003" b="-18872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1207008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Privacy, Trust &amp; Global Funding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8096" y="8083296"/>
            <a:ext cx="9052560" cy="1609148"/>
            <a:chOff x="0" y="0"/>
            <a:chExt cx="12070080" cy="21455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070080" cy="2145531"/>
            </a:xfrm>
            <a:custGeom>
              <a:avLst/>
              <a:gdLst/>
              <a:ahLst/>
              <a:cxnLst/>
              <a:rect l="l" t="t" r="r" b="b"/>
              <a:pathLst>
                <a:path w="12070080" h="2145531">
                  <a:moveTo>
                    <a:pt x="0" y="0"/>
                  </a:moveTo>
                  <a:lnTo>
                    <a:pt x="12070080" y="0"/>
                  </a:lnTo>
                  <a:lnTo>
                    <a:pt x="12070080" y="2145531"/>
                  </a:lnTo>
                  <a:lnTo>
                    <a:pt x="0" y="21455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15" b="-5791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2070080" cy="2193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Operating directly on a phone's main screen, InMobi ensures all content is 100% safe and privacy-first. It partners with premium media companies for trusted content. Funded by global giants including Google and Jio Platforms.</a:t>
              </a: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2628510"/>
            <a:ext cx="6858000" cy="6615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India's Fast-Growing Digital Market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more internet users and shorter attention spans are changing mobile marketing.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503" y="1907543"/>
            <a:ext cx="3957323" cy="2311403"/>
            <a:chOff x="0" y="0"/>
            <a:chExt cx="5276431" cy="3081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76469" cy="3081909"/>
            </a:xfrm>
            <a:custGeom>
              <a:avLst/>
              <a:gdLst/>
              <a:ahLst/>
              <a:cxnLst/>
              <a:rect l="l" t="t" r="r" b="b"/>
              <a:pathLst>
                <a:path w="5276469" h="3081909">
                  <a:moveTo>
                    <a:pt x="0" y="0"/>
                  </a:moveTo>
                  <a:lnTo>
                    <a:pt x="5276469" y="0"/>
                  </a:lnTo>
                  <a:lnTo>
                    <a:pt x="527646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57200" y="2011680"/>
            <a:ext cx="3931920" cy="1188720"/>
            <a:chOff x="0" y="0"/>
            <a:chExt cx="5242560" cy="1584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42560" cy="1584960"/>
            </a:xfrm>
            <a:custGeom>
              <a:avLst/>
              <a:gdLst/>
              <a:ahLst/>
              <a:cxnLst/>
              <a:rect l="l" t="t" r="r" b="b"/>
              <a:pathLst>
                <a:path w="5242560" h="15849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242560" cy="1613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881M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640" y="3255264"/>
            <a:ext cx="3749040" cy="731520"/>
            <a:chOff x="0" y="0"/>
            <a:chExt cx="4998720" cy="9753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99872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Internet Users in India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78759" y="1907543"/>
            <a:ext cx="3957323" cy="2311403"/>
            <a:chOff x="0" y="0"/>
            <a:chExt cx="5276431" cy="30818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276469" cy="3081909"/>
            </a:xfrm>
            <a:custGeom>
              <a:avLst/>
              <a:gdLst/>
              <a:ahLst/>
              <a:cxnLst/>
              <a:rect l="l" t="t" r="r" b="b"/>
              <a:pathLst>
                <a:path w="5276469" h="3081909">
                  <a:moveTo>
                    <a:pt x="0" y="0"/>
                  </a:moveTo>
                  <a:lnTo>
                    <a:pt x="5276469" y="0"/>
                  </a:lnTo>
                  <a:lnTo>
                    <a:pt x="527646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791456" y="2011680"/>
            <a:ext cx="3931920" cy="1188720"/>
            <a:chOff x="0" y="0"/>
            <a:chExt cx="5242560" cy="1584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42560" cy="1584960"/>
            </a:xfrm>
            <a:custGeom>
              <a:avLst/>
              <a:gdLst/>
              <a:ahLst/>
              <a:cxnLst/>
              <a:rect l="l" t="t" r="r" b="b"/>
              <a:pathLst>
                <a:path w="5242560" h="15849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5242560" cy="1613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71%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82896" y="3255264"/>
            <a:ext cx="3749040" cy="731520"/>
            <a:chOff x="0" y="0"/>
            <a:chExt cx="499872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99872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Smartphone Penetration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13015" y="1907543"/>
            <a:ext cx="3957323" cy="2311403"/>
            <a:chOff x="0" y="0"/>
            <a:chExt cx="5276431" cy="30818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76469" cy="3081909"/>
            </a:xfrm>
            <a:custGeom>
              <a:avLst/>
              <a:gdLst/>
              <a:ahLst/>
              <a:cxnLst/>
              <a:rect l="l" t="t" r="r" b="b"/>
              <a:pathLst>
                <a:path w="5276469" h="3081909">
                  <a:moveTo>
                    <a:pt x="0" y="0"/>
                  </a:moveTo>
                  <a:lnTo>
                    <a:pt x="5276469" y="0"/>
                  </a:lnTo>
                  <a:lnTo>
                    <a:pt x="527646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125712" y="2011680"/>
            <a:ext cx="3931920" cy="1188720"/>
            <a:chOff x="0" y="0"/>
            <a:chExt cx="5242560" cy="15849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42560" cy="1584960"/>
            </a:xfrm>
            <a:custGeom>
              <a:avLst/>
              <a:gdLst/>
              <a:ahLst/>
              <a:cxnLst/>
              <a:rect l="l" t="t" r="r" b="b"/>
              <a:pathLst>
                <a:path w="5242560" h="15849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5242560" cy="1613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17152" y="3255264"/>
            <a:ext cx="3749040" cy="731520"/>
            <a:chOff x="0" y="0"/>
            <a:chExt cx="4998720" cy="9753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99872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Internet Economy by 2030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447271" y="1907543"/>
            <a:ext cx="3957323" cy="2311403"/>
            <a:chOff x="0" y="0"/>
            <a:chExt cx="5276431" cy="30818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276469" cy="3081909"/>
            </a:xfrm>
            <a:custGeom>
              <a:avLst/>
              <a:gdLst/>
              <a:ahLst/>
              <a:cxnLst/>
              <a:rect l="l" t="t" r="r" b="b"/>
              <a:pathLst>
                <a:path w="5276469" h="3081909">
                  <a:moveTo>
                    <a:pt x="0" y="0"/>
                  </a:moveTo>
                  <a:lnTo>
                    <a:pt x="5276469" y="0"/>
                  </a:lnTo>
                  <a:lnTo>
                    <a:pt x="527646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C0392B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3459968" y="2011680"/>
            <a:ext cx="3931920" cy="1188720"/>
            <a:chOff x="0" y="0"/>
            <a:chExt cx="5242560" cy="15849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42560" cy="1584960"/>
            </a:xfrm>
            <a:custGeom>
              <a:avLst/>
              <a:gdLst/>
              <a:ahLst/>
              <a:cxnLst/>
              <a:rect l="l" t="t" r="r" b="b"/>
              <a:pathLst>
                <a:path w="5242560" h="1584960">
                  <a:moveTo>
                    <a:pt x="0" y="0"/>
                  </a:moveTo>
                  <a:lnTo>
                    <a:pt x="5242560" y="0"/>
                  </a:lnTo>
                  <a:lnTo>
                    <a:pt x="52425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5242560" cy="1613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8.25s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551408" y="3255264"/>
            <a:ext cx="3749040" cy="731520"/>
            <a:chOff x="0" y="0"/>
            <a:chExt cx="4998720" cy="9753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98720" cy="975360"/>
            </a:xfrm>
            <a:custGeom>
              <a:avLst/>
              <a:gdLst/>
              <a:ahLst/>
              <a:cxnLst/>
              <a:rect l="l" t="t" r="r" b="b"/>
              <a:pathLst>
                <a:path w="4998720" h="975360">
                  <a:moveTo>
                    <a:pt x="0" y="0"/>
                  </a:moveTo>
                  <a:lnTo>
                    <a:pt x="4998720" y="0"/>
                  </a:lnTo>
                  <a:lnTo>
                    <a:pt x="499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60" b="-4986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99872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Human Attention Span Today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444503" y="4714156"/>
            <a:ext cx="8291579" cy="5420620"/>
          </a:xfrm>
          <a:custGeom>
            <a:avLst/>
            <a:gdLst/>
            <a:ahLst/>
            <a:cxnLst/>
            <a:rect l="l" t="t" r="r" b="b"/>
            <a:pathLst>
              <a:path w="8291579" h="5420620">
                <a:moveTo>
                  <a:pt x="0" y="0"/>
                </a:moveTo>
                <a:lnTo>
                  <a:pt x="8291579" y="0"/>
                </a:lnTo>
                <a:lnTo>
                  <a:pt x="8291579" y="5420620"/>
                </a:lnTo>
                <a:lnTo>
                  <a:pt x="0" y="542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144005" y="4714156"/>
            <a:ext cx="8156443" cy="5514669"/>
          </a:xfrm>
          <a:custGeom>
            <a:avLst/>
            <a:gdLst/>
            <a:ahLst/>
            <a:cxnLst/>
            <a:rect l="l" t="t" r="r" b="b"/>
            <a:pathLst>
              <a:path w="8156443" h="5514669">
                <a:moveTo>
                  <a:pt x="0" y="0"/>
                </a:moveTo>
                <a:lnTo>
                  <a:pt x="8156443" y="0"/>
                </a:lnTo>
                <a:lnTo>
                  <a:pt x="8156443" y="5514669"/>
                </a:lnTo>
                <a:lnTo>
                  <a:pt x="0" y="55146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22" b="-314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Model of InMobi Group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InMobi creates value and drives revenue through B2B and B2C ecosystems.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503" y="1907543"/>
            <a:ext cx="5603243" cy="7797803"/>
            <a:chOff x="0" y="0"/>
            <a:chExt cx="7470991" cy="103970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71029" cy="10397109"/>
            </a:xfrm>
            <a:custGeom>
              <a:avLst/>
              <a:gdLst/>
              <a:ahLst/>
              <a:cxnLst/>
              <a:rect l="l" t="t" r="r" b="b"/>
              <a:pathLst>
                <a:path w="7471029" h="10397109">
                  <a:moveTo>
                    <a:pt x="0" y="0"/>
                  </a:moveTo>
                  <a:lnTo>
                    <a:pt x="7471029" y="0"/>
                  </a:lnTo>
                  <a:lnTo>
                    <a:pt x="7471029" y="10397109"/>
                  </a:lnTo>
                  <a:lnTo>
                    <a:pt x="0" y="10397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4503" y="1907543"/>
            <a:ext cx="5603243" cy="1397003"/>
            <a:chOff x="0" y="0"/>
            <a:chExt cx="7470991" cy="18626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71029" cy="1862709"/>
            </a:xfrm>
            <a:custGeom>
              <a:avLst/>
              <a:gdLst/>
              <a:ahLst/>
              <a:cxnLst/>
              <a:rect l="l" t="t" r="r" b="b"/>
              <a:pathLst>
                <a:path w="7471029" h="1862709">
                  <a:moveTo>
                    <a:pt x="0" y="0"/>
                  </a:moveTo>
                  <a:lnTo>
                    <a:pt x="7471029" y="0"/>
                  </a:lnTo>
                  <a:lnTo>
                    <a:pt x="747102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6656" y="2011680"/>
            <a:ext cx="5120640" cy="705948"/>
            <a:chOff x="0" y="0"/>
            <a:chExt cx="6827520" cy="9412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7520" cy="941264"/>
            </a:xfrm>
            <a:custGeom>
              <a:avLst/>
              <a:gdLst/>
              <a:ahLst/>
              <a:cxnLst/>
              <a:rect l="l" t="t" r="r" b="b"/>
              <a:pathLst>
                <a:path w="6827520" h="941264">
                  <a:moveTo>
                    <a:pt x="0" y="0"/>
                  </a:moveTo>
                  <a:lnTo>
                    <a:pt x="6827520" y="0"/>
                  </a:lnTo>
                  <a:lnTo>
                    <a:pt x="682752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115" b="-9055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82752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B2B Engine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656" y="2743200"/>
            <a:ext cx="5120640" cy="494723"/>
            <a:chOff x="0" y="0"/>
            <a:chExt cx="6827520" cy="6596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7520" cy="659631"/>
            </a:xfrm>
            <a:custGeom>
              <a:avLst/>
              <a:gdLst/>
              <a:ahLst/>
              <a:cxnLst/>
              <a:rect l="l" t="t" r="r" b="b"/>
              <a:pathLst>
                <a:path w="6827520" h="659631">
                  <a:moveTo>
                    <a:pt x="0" y="0"/>
                  </a:moveTo>
                  <a:lnTo>
                    <a:pt x="6827520" y="0"/>
                  </a:lnTo>
                  <a:lnTo>
                    <a:pt x="6827520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17" b="-14234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827520" cy="707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InMobi Advertising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656" y="3474720"/>
            <a:ext cx="5120640" cy="605098"/>
            <a:chOff x="0" y="0"/>
            <a:chExt cx="6827520" cy="8067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does: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3913632"/>
            <a:ext cx="5120640" cy="866198"/>
            <a:chOff x="0" y="0"/>
            <a:chExt cx="6827520" cy="11549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1154931"/>
            </a:xfrm>
            <a:custGeom>
              <a:avLst/>
              <a:gdLst/>
              <a:ahLst/>
              <a:cxnLst/>
              <a:rect l="l" t="t" r="r" b="b"/>
              <a:pathLst>
                <a:path w="6827520" h="1154931">
                  <a:moveTo>
                    <a:pt x="0" y="0"/>
                  </a:moveTo>
                  <a:lnTo>
                    <a:pt x="6827520" y="0"/>
                  </a:lnTo>
                  <a:lnTo>
                    <a:pt x="6827520" y="1154931"/>
                  </a:lnTo>
                  <a:lnTo>
                    <a:pt x="0" y="1154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84" b="-6269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827520" cy="1202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tech providing data-driven media solutions.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" y="4846320"/>
            <a:ext cx="5120640" cy="605098"/>
            <a:chOff x="0" y="0"/>
            <a:chExt cx="6827520" cy="80679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 Creation: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3959" y="5400551"/>
            <a:ext cx="281435" cy="281435"/>
            <a:chOff x="0" y="0"/>
            <a:chExt cx="375247" cy="3752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2416" y="5340096"/>
            <a:ext cx="4754880" cy="1237673"/>
            <a:chOff x="0" y="0"/>
            <a:chExt cx="6339840" cy="165023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39840" cy="1650231"/>
            </a:xfrm>
            <a:custGeom>
              <a:avLst/>
              <a:gdLst/>
              <a:ahLst/>
              <a:cxnLst/>
              <a:rect l="l" t="t" r="r" b="b"/>
              <a:pathLst>
                <a:path w="6339840" h="1650231">
                  <a:moveTo>
                    <a:pt x="0" y="0"/>
                  </a:moveTo>
                  <a:lnTo>
                    <a:pt x="6339840" y="0"/>
                  </a:lnTo>
                  <a:lnTo>
                    <a:pt x="6339840" y="1650231"/>
                  </a:lnTo>
                  <a:lnTo>
                    <a:pt x="0" y="1650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29" b="-1918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6339840" cy="1697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Connects global advertisers &amp; publishers with 2B+ target mobile audiences on the open web.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3959" y="6850885"/>
            <a:ext cx="281435" cy="281435"/>
            <a:chOff x="0" y="0"/>
            <a:chExt cx="375247" cy="3752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42416" y="6583680"/>
            <a:ext cx="4754880" cy="1097280"/>
            <a:chOff x="0" y="0"/>
            <a:chExt cx="6339840" cy="1463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Advanced analytics for impactful ad campaigns.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3959" y="8071485"/>
            <a:ext cx="281435" cy="281435"/>
            <a:chOff x="0" y="0"/>
            <a:chExt cx="375247" cy="37524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2416" y="7827264"/>
            <a:ext cx="4754880" cy="1097280"/>
            <a:chOff x="0" y="0"/>
            <a:chExt cx="6339840" cy="14630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Monetization tools for independent app developers.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88103" y="1907543"/>
            <a:ext cx="5603243" cy="7797803"/>
            <a:chOff x="0" y="0"/>
            <a:chExt cx="7470991" cy="1039707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471029" cy="10397109"/>
            </a:xfrm>
            <a:custGeom>
              <a:avLst/>
              <a:gdLst/>
              <a:ahLst/>
              <a:cxnLst/>
              <a:rect l="l" t="t" r="r" b="b"/>
              <a:pathLst>
                <a:path w="7471029" h="10397109">
                  <a:moveTo>
                    <a:pt x="0" y="0"/>
                  </a:moveTo>
                  <a:lnTo>
                    <a:pt x="7471029" y="0"/>
                  </a:lnTo>
                  <a:lnTo>
                    <a:pt x="7471029" y="10397109"/>
                  </a:lnTo>
                  <a:lnTo>
                    <a:pt x="0" y="10397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388103" y="1907543"/>
            <a:ext cx="5603243" cy="1397003"/>
            <a:chOff x="0" y="0"/>
            <a:chExt cx="7470991" cy="186267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471029" cy="1862709"/>
            </a:xfrm>
            <a:custGeom>
              <a:avLst/>
              <a:gdLst/>
              <a:ahLst/>
              <a:cxnLst/>
              <a:rect l="l" t="t" r="r" b="b"/>
              <a:pathLst>
                <a:path w="7471029" h="1862709">
                  <a:moveTo>
                    <a:pt x="0" y="0"/>
                  </a:moveTo>
                  <a:lnTo>
                    <a:pt x="7471029" y="0"/>
                  </a:lnTo>
                  <a:lnTo>
                    <a:pt x="747102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620256" y="2011680"/>
            <a:ext cx="5120640" cy="705948"/>
            <a:chOff x="0" y="0"/>
            <a:chExt cx="6827520" cy="9412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827520" cy="941264"/>
            </a:xfrm>
            <a:custGeom>
              <a:avLst/>
              <a:gdLst/>
              <a:ahLst/>
              <a:cxnLst/>
              <a:rect l="l" t="t" r="r" b="b"/>
              <a:pathLst>
                <a:path w="6827520" h="941264">
                  <a:moveTo>
                    <a:pt x="0" y="0"/>
                  </a:moveTo>
                  <a:lnTo>
                    <a:pt x="6827520" y="0"/>
                  </a:lnTo>
                  <a:lnTo>
                    <a:pt x="6827520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115" b="-9055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6827520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B2C Layer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20256" y="2743200"/>
            <a:ext cx="5120640" cy="494723"/>
            <a:chOff x="0" y="0"/>
            <a:chExt cx="6827520" cy="65963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827520" cy="659631"/>
            </a:xfrm>
            <a:custGeom>
              <a:avLst/>
              <a:gdLst/>
              <a:ahLst/>
              <a:cxnLst/>
              <a:rect l="l" t="t" r="r" b="b"/>
              <a:pathLst>
                <a:path w="6827520" h="659631">
                  <a:moveTo>
                    <a:pt x="0" y="0"/>
                  </a:moveTo>
                  <a:lnTo>
                    <a:pt x="6827520" y="0"/>
                  </a:lnTo>
                  <a:lnTo>
                    <a:pt x="6827520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17" b="-14234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6827520" cy="707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00E5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Glance &amp; Roposo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620256" y="3474720"/>
            <a:ext cx="5120640" cy="605098"/>
            <a:chOff x="0" y="0"/>
            <a:chExt cx="6827520" cy="80679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does: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20256" y="3913632"/>
            <a:ext cx="5120640" cy="866198"/>
            <a:chOff x="0" y="0"/>
            <a:chExt cx="6827520" cy="115493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27520" cy="1154931"/>
            </a:xfrm>
            <a:custGeom>
              <a:avLst/>
              <a:gdLst/>
              <a:ahLst/>
              <a:cxnLst/>
              <a:rect l="l" t="t" r="r" b="b"/>
              <a:pathLst>
                <a:path w="6827520" h="1154931">
                  <a:moveTo>
                    <a:pt x="0" y="0"/>
                  </a:moveTo>
                  <a:lnTo>
                    <a:pt x="6827520" y="0"/>
                  </a:lnTo>
                  <a:lnTo>
                    <a:pt x="6827520" y="1154931"/>
                  </a:lnTo>
                  <a:lnTo>
                    <a:pt x="0" y="1154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84" b="-6269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6827520" cy="1202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Consumer tech by InMobi's subsidiary Glance — backed by Google &amp; Jio.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20256" y="4846320"/>
            <a:ext cx="5120640" cy="605098"/>
            <a:chOff x="0" y="0"/>
            <a:chExt cx="6827520" cy="80679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 Creation: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607559" y="5400551"/>
            <a:ext cx="281435" cy="281435"/>
            <a:chOff x="0" y="0"/>
            <a:chExt cx="375247" cy="37524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986016" y="5340096"/>
            <a:ext cx="4754880" cy="1237673"/>
            <a:chOff x="0" y="0"/>
            <a:chExt cx="6339840" cy="165023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339840" cy="1650231"/>
            </a:xfrm>
            <a:custGeom>
              <a:avLst/>
              <a:gdLst/>
              <a:ahLst/>
              <a:cxnLst/>
              <a:rect l="l" t="t" r="r" b="b"/>
              <a:pathLst>
                <a:path w="6339840" h="1650231">
                  <a:moveTo>
                    <a:pt x="0" y="0"/>
                  </a:moveTo>
                  <a:lnTo>
                    <a:pt x="6339840" y="0"/>
                  </a:lnTo>
                  <a:lnTo>
                    <a:pt x="6339840" y="1650231"/>
                  </a:lnTo>
                  <a:lnTo>
                    <a:pt x="0" y="1650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29" b="-19185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339840" cy="1697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on mobile lock screen 'Surface Zero', serving instant news, games &amp; live streaming.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07559" y="6850885"/>
            <a:ext cx="281435" cy="281435"/>
            <a:chOff x="0" y="0"/>
            <a:chExt cx="375247" cy="37524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6986016" y="6583680"/>
            <a:ext cx="4754880" cy="1097280"/>
            <a:chOff x="0" y="0"/>
            <a:chExt cx="6339840" cy="14630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Eliminates the traditional multi-step app journey.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607559" y="8020945"/>
            <a:ext cx="281435" cy="281435"/>
            <a:chOff x="0" y="0"/>
            <a:chExt cx="375247" cy="37524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6986016" y="7827264"/>
            <a:ext cx="4754880" cy="1097280"/>
            <a:chOff x="0" y="0"/>
            <a:chExt cx="6339840" cy="14630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user attention at the first screen interaction.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331703" y="1907543"/>
            <a:ext cx="5603243" cy="7797803"/>
            <a:chOff x="0" y="0"/>
            <a:chExt cx="7470991" cy="10397071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471029" cy="10397109"/>
            </a:xfrm>
            <a:custGeom>
              <a:avLst/>
              <a:gdLst/>
              <a:ahLst/>
              <a:cxnLst/>
              <a:rect l="l" t="t" r="r" b="b"/>
              <a:pathLst>
                <a:path w="7471029" h="10397109">
                  <a:moveTo>
                    <a:pt x="0" y="0"/>
                  </a:moveTo>
                  <a:lnTo>
                    <a:pt x="7471029" y="0"/>
                  </a:lnTo>
                  <a:lnTo>
                    <a:pt x="7471029" y="10397109"/>
                  </a:lnTo>
                  <a:lnTo>
                    <a:pt x="0" y="10397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2331703" y="1907543"/>
            <a:ext cx="5603243" cy="1397003"/>
            <a:chOff x="0" y="0"/>
            <a:chExt cx="7470991" cy="1862671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471029" cy="1862709"/>
            </a:xfrm>
            <a:custGeom>
              <a:avLst/>
              <a:gdLst/>
              <a:ahLst/>
              <a:cxnLst/>
              <a:rect l="l" t="t" r="r" b="b"/>
              <a:pathLst>
                <a:path w="7471029" h="1862709">
                  <a:moveTo>
                    <a:pt x="0" y="0"/>
                  </a:moveTo>
                  <a:lnTo>
                    <a:pt x="7471029" y="0"/>
                  </a:lnTo>
                  <a:lnTo>
                    <a:pt x="7471029" y="1862709"/>
                  </a:lnTo>
                  <a:lnTo>
                    <a:pt x="0" y="1862709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12438631" y="2037252"/>
            <a:ext cx="5736850" cy="705948"/>
            <a:chOff x="0" y="0"/>
            <a:chExt cx="7649134" cy="94126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649133" cy="941264"/>
            </a:xfrm>
            <a:custGeom>
              <a:avLst/>
              <a:gdLst/>
              <a:ahLst/>
              <a:cxnLst/>
              <a:rect l="l" t="t" r="r" b="b"/>
              <a:pathLst>
                <a:path w="7649133" h="941264">
                  <a:moveTo>
                    <a:pt x="0" y="0"/>
                  </a:moveTo>
                  <a:lnTo>
                    <a:pt x="7649133" y="0"/>
                  </a:lnTo>
                  <a:lnTo>
                    <a:pt x="7649133" y="941264"/>
                  </a:lnTo>
                  <a:lnTo>
                    <a:pt x="0" y="941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115" r="10741" b="-90556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76200"/>
              <a:ext cx="7649134" cy="10174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Ecosystem &amp; Partner Revenue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563856" y="2743200"/>
            <a:ext cx="5120640" cy="494723"/>
            <a:chOff x="0" y="0"/>
            <a:chExt cx="6827520" cy="65963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827520" cy="659631"/>
            </a:xfrm>
            <a:custGeom>
              <a:avLst/>
              <a:gdLst/>
              <a:ahLst/>
              <a:cxnLst/>
              <a:rect l="l" t="t" r="r" b="b"/>
              <a:pathLst>
                <a:path w="6827520" h="659631">
                  <a:moveTo>
                    <a:pt x="0" y="0"/>
                  </a:moveTo>
                  <a:lnTo>
                    <a:pt x="6827520" y="0"/>
                  </a:lnTo>
                  <a:lnTo>
                    <a:pt x="6827520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017" b="-142342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47625"/>
              <a:ext cx="6827520" cy="7072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A8F0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OEM &amp; Media Partnerships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563856" y="3474720"/>
            <a:ext cx="5120640" cy="605098"/>
            <a:chOff x="0" y="0"/>
            <a:chExt cx="6827520" cy="806797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does: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2563856" y="3913632"/>
            <a:ext cx="5120640" cy="1237673"/>
            <a:chOff x="0" y="0"/>
            <a:chExt cx="6827520" cy="1650231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827520" cy="1650231"/>
            </a:xfrm>
            <a:custGeom>
              <a:avLst/>
              <a:gdLst/>
              <a:ahLst/>
              <a:cxnLst/>
              <a:rect l="l" t="t" r="r" b="b"/>
              <a:pathLst>
                <a:path w="6827520" h="1650231">
                  <a:moveTo>
                    <a:pt x="0" y="0"/>
                  </a:moveTo>
                  <a:lnTo>
                    <a:pt x="6827520" y="0"/>
                  </a:lnTo>
                  <a:lnTo>
                    <a:pt x="6827520" y="1650231"/>
                  </a:lnTo>
                  <a:lnTo>
                    <a:pt x="0" y="1650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369" b="-1386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6827520" cy="1697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Premium ecosystem through official partnerships — no random user-generated posts.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438631" y="5389430"/>
            <a:ext cx="5120640" cy="605098"/>
            <a:chOff x="0" y="0"/>
            <a:chExt cx="6827520" cy="806797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6827520" cy="806797"/>
            </a:xfrm>
            <a:custGeom>
              <a:avLst/>
              <a:gdLst/>
              <a:ahLst/>
              <a:cxnLst/>
              <a:rect l="l" t="t" r="r" b="b"/>
              <a:pathLst>
                <a:path w="6827520" h="806797">
                  <a:moveTo>
                    <a:pt x="0" y="0"/>
                  </a:moveTo>
                  <a:lnTo>
                    <a:pt x="6827520" y="0"/>
                  </a:lnTo>
                  <a:lnTo>
                    <a:pt x="682752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46" b="-98137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66675"/>
              <a:ext cx="682752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 Creation: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2588953" y="6165978"/>
            <a:ext cx="274378" cy="274378"/>
            <a:chOff x="0" y="0"/>
            <a:chExt cx="375247" cy="37524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12929616" y="5843818"/>
            <a:ext cx="4754880" cy="1097280"/>
            <a:chOff x="0" y="0"/>
            <a:chExt cx="6339840" cy="146304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Integrates directly with Samsung, Xiaomi, Vivo via OEM pre-installs.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581896" y="7198362"/>
            <a:ext cx="281435" cy="281435"/>
            <a:chOff x="0" y="0"/>
            <a:chExt cx="375247" cy="375247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12929616" y="6931157"/>
            <a:ext cx="4754880" cy="1097280"/>
            <a:chOff x="0" y="0"/>
            <a:chExt cx="6339840" cy="14630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Partners with trusted media houses for safe, professional content.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581896" y="8375904"/>
            <a:ext cx="281435" cy="281435"/>
            <a:chOff x="0" y="0"/>
            <a:chExt cx="375247" cy="375247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109" name="Group 109"/>
          <p:cNvGrpSpPr/>
          <p:nvPr/>
        </p:nvGrpSpPr>
        <p:grpSpPr>
          <a:xfrm>
            <a:off x="12929616" y="8071485"/>
            <a:ext cx="4754880" cy="1097280"/>
            <a:chOff x="0" y="0"/>
            <a:chExt cx="6339840" cy="146304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6339840" cy="1463040"/>
            </a:xfrm>
            <a:custGeom>
              <a:avLst/>
              <a:gdLst/>
              <a:ahLst/>
              <a:cxnLst/>
              <a:rect l="l" t="t" r="r" b="b"/>
              <a:pathLst>
                <a:path w="6339840" h="14630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435" b="-34435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47625"/>
              <a:ext cx="633984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Premium advertisers pay a premium for trusted lock-screen real estate.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Product, Service &amp; Technology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Moving from traditional search apps to instant, AI-driven lock screen experiences.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4503" y="1998983"/>
            <a:ext cx="10083803" cy="3408683"/>
            <a:chOff x="0" y="0"/>
            <a:chExt cx="13445071" cy="45449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45110" cy="4544949"/>
            </a:xfrm>
            <a:custGeom>
              <a:avLst/>
              <a:gdLst/>
              <a:ahLst/>
              <a:cxnLst/>
              <a:rect l="l" t="t" r="r" b="b"/>
              <a:pathLst>
                <a:path w="13445110" h="4544949">
                  <a:moveTo>
                    <a:pt x="0" y="0"/>
                  </a:moveTo>
                  <a:lnTo>
                    <a:pt x="13445110" y="0"/>
                  </a:lnTo>
                  <a:lnTo>
                    <a:pt x="13445110" y="4544949"/>
                  </a:lnTo>
                  <a:lnTo>
                    <a:pt x="0" y="4544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44503" y="1998983"/>
            <a:ext cx="10083803" cy="976379"/>
            <a:chOff x="0" y="0"/>
            <a:chExt cx="13445071" cy="13018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445110" cy="1301877"/>
            </a:xfrm>
            <a:custGeom>
              <a:avLst/>
              <a:gdLst/>
              <a:ahLst/>
              <a:cxnLst/>
              <a:rect l="l" t="t" r="r" b="b"/>
              <a:pathLst>
                <a:path w="13445110" h="1301877">
                  <a:moveTo>
                    <a:pt x="0" y="0"/>
                  </a:moveTo>
                  <a:lnTo>
                    <a:pt x="13445110" y="0"/>
                  </a:lnTo>
                  <a:lnTo>
                    <a:pt x="13445110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8096" y="2103120"/>
            <a:ext cx="8961120" cy="694944"/>
            <a:chOff x="0" y="0"/>
            <a:chExt cx="11948160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48160" cy="926592"/>
            </a:xfrm>
            <a:custGeom>
              <a:avLst/>
              <a:gdLst/>
              <a:ahLst/>
              <a:cxnLst/>
              <a:rect l="l" t="t" r="r" b="b"/>
              <a:pathLst>
                <a:path w="11948160" h="926592">
                  <a:moveTo>
                    <a:pt x="0" y="0"/>
                  </a:moveTo>
                  <a:lnTo>
                    <a:pt x="11948160" y="0"/>
                  </a:lnTo>
                  <a:lnTo>
                    <a:pt x="11948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54" b="-20125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194816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Glance – The Smart Lock Screen Platform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78240" y="2103120"/>
            <a:ext cx="1554480" cy="694944"/>
            <a:chOff x="0" y="0"/>
            <a:chExt cx="207264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" cy="926592"/>
            </a:xfrm>
            <a:custGeom>
              <a:avLst/>
              <a:gdLst/>
              <a:ahLst/>
              <a:cxnLst/>
              <a:rect l="l" t="t" r="r" b="b"/>
              <a:pathLst>
                <a:path w="2072640" h="926592">
                  <a:moveTo>
                    <a:pt x="0" y="0"/>
                  </a:moveTo>
                  <a:lnTo>
                    <a:pt x="2072640" y="0"/>
                  </a:lnTo>
                  <a:lnTo>
                    <a:pt x="2072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59" r="-735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726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B2C Product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68096" y="3024759"/>
            <a:ext cx="9509760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A built-in phone feature that transforms the mobile standby screen into a live discovery page. Removes the need to unlock, search online, or download dozens of apps — with just a single tap, users instantly view bite-sized news, live events, sports, and wallpapers.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44503" y="5656583"/>
            <a:ext cx="10083803" cy="4048763"/>
            <a:chOff x="0" y="0"/>
            <a:chExt cx="13445071" cy="53983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445110" cy="5398389"/>
            </a:xfrm>
            <a:custGeom>
              <a:avLst/>
              <a:gdLst/>
              <a:ahLst/>
              <a:cxnLst/>
              <a:rect l="l" t="t" r="r" b="b"/>
              <a:pathLst>
                <a:path w="13445110" h="5398389">
                  <a:moveTo>
                    <a:pt x="0" y="0"/>
                  </a:moveTo>
                  <a:lnTo>
                    <a:pt x="13445110" y="0"/>
                  </a:lnTo>
                  <a:lnTo>
                    <a:pt x="13445110" y="5398389"/>
                  </a:lnTo>
                  <a:lnTo>
                    <a:pt x="0" y="53983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44503" y="5656583"/>
            <a:ext cx="10083803" cy="976379"/>
            <a:chOff x="0" y="0"/>
            <a:chExt cx="13445071" cy="130183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45110" cy="1301877"/>
            </a:xfrm>
            <a:custGeom>
              <a:avLst/>
              <a:gdLst/>
              <a:ahLst/>
              <a:cxnLst/>
              <a:rect l="l" t="t" r="r" b="b"/>
              <a:pathLst>
                <a:path w="13445110" h="1301877">
                  <a:moveTo>
                    <a:pt x="0" y="0"/>
                  </a:moveTo>
                  <a:lnTo>
                    <a:pt x="13445110" y="0"/>
                  </a:lnTo>
                  <a:lnTo>
                    <a:pt x="13445110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68096" y="5760720"/>
            <a:ext cx="8961120" cy="694944"/>
            <a:chOff x="0" y="0"/>
            <a:chExt cx="1194816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948160" cy="926592"/>
            </a:xfrm>
            <a:custGeom>
              <a:avLst/>
              <a:gdLst/>
              <a:ahLst/>
              <a:cxnLst/>
              <a:rect l="l" t="t" r="r" b="b"/>
              <a:pathLst>
                <a:path w="11948160" h="926592">
                  <a:moveTo>
                    <a:pt x="0" y="0"/>
                  </a:moveTo>
                  <a:lnTo>
                    <a:pt x="11948160" y="0"/>
                  </a:lnTo>
                  <a:lnTo>
                    <a:pt x="11948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54" b="-20125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194816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Nostra &amp; Roposo – Gaming &amp; Live Video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78240" y="5760720"/>
            <a:ext cx="1554480" cy="694944"/>
            <a:chOff x="0" y="0"/>
            <a:chExt cx="2072640" cy="9265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72640" cy="926592"/>
            </a:xfrm>
            <a:custGeom>
              <a:avLst/>
              <a:gdLst/>
              <a:ahLst/>
              <a:cxnLst/>
              <a:rect l="l" t="t" r="r" b="b"/>
              <a:pathLst>
                <a:path w="2072640" h="926592">
                  <a:moveTo>
                    <a:pt x="0" y="0"/>
                  </a:moveTo>
                  <a:lnTo>
                    <a:pt x="2072640" y="0"/>
                  </a:lnTo>
                  <a:lnTo>
                    <a:pt x="2072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59" r="-735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726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Services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68096" y="6682359"/>
            <a:ext cx="9509760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A23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Nostra (Gaming): </a:t>
            </a: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Largest lock screen gaming platform in India &amp; SEA. Instant, high-quality games — no installation needed.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3D5A78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A23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Roposo (Live Commerce): </a:t>
            </a:r>
            <a:r>
              <a:rPr lang="en-US" sz="2499">
                <a:solidFill>
                  <a:srgbClr val="3D5A78"/>
                </a:solidFill>
                <a:latin typeface="Calibri (MS)"/>
                <a:ea typeface="Calibri (MS)"/>
                <a:cs typeface="Calibri (MS)"/>
                <a:sym typeface="Calibri (MS)"/>
              </a:rPr>
              <a:t>Live streaming platform powering a new creator economy. Hosts interactive streams, product reviews, and real-time instant shopping.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960103" y="1998983"/>
            <a:ext cx="6883403" cy="7706363"/>
            <a:chOff x="0" y="0"/>
            <a:chExt cx="9177871" cy="1027515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77909" cy="10275189"/>
            </a:xfrm>
            <a:custGeom>
              <a:avLst/>
              <a:gdLst/>
              <a:ahLst/>
              <a:cxnLst/>
              <a:rect l="l" t="t" r="r" b="b"/>
              <a:pathLst>
                <a:path w="9177909" h="10275189">
                  <a:moveTo>
                    <a:pt x="0" y="0"/>
                  </a:moveTo>
                  <a:lnTo>
                    <a:pt x="9177909" y="0"/>
                  </a:lnTo>
                  <a:lnTo>
                    <a:pt x="9177909" y="10275189"/>
                  </a:lnTo>
                  <a:lnTo>
                    <a:pt x="0" y="10275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960103" y="1998983"/>
            <a:ext cx="6883403" cy="976379"/>
            <a:chOff x="0" y="0"/>
            <a:chExt cx="9177871" cy="130183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77909" cy="1301877"/>
            </a:xfrm>
            <a:custGeom>
              <a:avLst/>
              <a:gdLst/>
              <a:ahLst/>
              <a:cxnLst/>
              <a:rect l="l" t="t" r="r" b="b"/>
              <a:pathLst>
                <a:path w="9177909" h="1301877">
                  <a:moveTo>
                    <a:pt x="0" y="0"/>
                  </a:moveTo>
                  <a:lnTo>
                    <a:pt x="9177909" y="0"/>
                  </a:lnTo>
                  <a:lnTo>
                    <a:pt x="917790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1228832" y="2103120"/>
            <a:ext cx="6309360" cy="694944"/>
            <a:chOff x="0" y="0"/>
            <a:chExt cx="8412480" cy="9265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412480" cy="926592"/>
            </a:xfrm>
            <a:custGeom>
              <a:avLst/>
              <a:gdLst/>
              <a:ahLst/>
              <a:cxnLst/>
              <a:rect l="l" t="t" r="r" b="b"/>
              <a:pathLst>
                <a:path w="8412480" h="926592">
                  <a:moveTo>
                    <a:pt x="0" y="0"/>
                  </a:moveTo>
                  <a:lnTo>
                    <a:pt x="8412480" y="0"/>
                  </a:lnTo>
                  <a:lnTo>
                    <a:pt x="8412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903" b="-126903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841248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InMobi Advertising &amp; Glance AI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228832" y="3145536"/>
            <a:ext cx="6309360" cy="605098"/>
            <a:chOff x="0" y="0"/>
            <a:chExt cx="8412480" cy="80679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412480" cy="806797"/>
            </a:xfrm>
            <a:custGeom>
              <a:avLst/>
              <a:gdLst/>
              <a:ahLst/>
              <a:cxnLst/>
              <a:rect l="l" t="t" r="r" b="b"/>
              <a:pathLst>
                <a:path w="8412480" h="806797">
                  <a:moveTo>
                    <a:pt x="0" y="0"/>
                  </a:moveTo>
                  <a:lnTo>
                    <a:pt x="8412480" y="0"/>
                  </a:lnTo>
                  <a:lnTo>
                    <a:pt x="84124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858" b="-14548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84124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Technology Engine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228832" y="3803904"/>
            <a:ext cx="6309360" cy="542683"/>
            <a:chOff x="0" y="0"/>
            <a:chExt cx="8412480" cy="72357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412480" cy="723578"/>
            </a:xfrm>
            <a:custGeom>
              <a:avLst/>
              <a:gdLst/>
              <a:ahLst/>
              <a:cxnLst/>
              <a:rect l="l" t="t" r="r" b="b"/>
              <a:pathLst>
                <a:path w="8412480" h="723578">
                  <a:moveTo>
                    <a:pt x="0" y="0"/>
                  </a:moveTo>
                  <a:lnTo>
                    <a:pt x="8412480" y="0"/>
                  </a:lnTo>
                  <a:lnTo>
                    <a:pt x="8412480" y="723578"/>
                  </a:lnTo>
                  <a:lnTo>
                    <a:pt x="0" y="723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13" b="-168661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8412480" cy="780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Ad Targeting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228832" y="4297680"/>
            <a:ext cx="6309360" cy="1645920"/>
            <a:chOff x="0" y="0"/>
            <a:chExt cx="8412480" cy="21945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412480" cy="2194560"/>
            </a:xfrm>
            <a:custGeom>
              <a:avLst/>
              <a:gdLst/>
              <a:ahLst/>
              <a:cxnLst/>
              <a:rect l="l" t="t" r="r" b="b"/>
              <a:pathLst>
                <a:path w="8412480" h="2194560">
                  <a:moveTo>
                    <a:pt x="0" y="0"/>
                  </a:moveTo>
                  <a:lnTo>
                    <a:pt x="8412480" y="0"/>
                  </a:lnTo>
                  <a:lnTo>
                    <a:pt x="8412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41248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Global brands get data-driven advertising tools with predictive intelligence. Highly relevant, full-screen ads delivered to right users on the open internet — without violating user privacy.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216135" y="6113783"/>
            <a:ext cx="5877563" cy="25403"/>
            <a:chOff x="0" y="0"/>
            <a:chExt cx="7836751" cy="338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836789" cy="33909"/>
            </a:xfrm>
            <a:custGeom>
              <a:avLst/>
              <a:gdLst/>
              <a:ahLst/>
              <a:cxnLst/>
              <a:rect l="l" t="t" r="r" b="b"/>
              <a:pathLst>
                <a:path w="7836789" h="33909">
                  <a:moveTo>
                    <a:pt x="0" y="0"/>
                  </a:moveTo>
                  <a:lnTo>
                    <a:pt x="783678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4453267" b="-4453154"/>
              </a:stretch>
            </a:blip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1228832" y="6309360"/>
            <a:ext cx="6309360" cy="542683"/>
            <a:chOff x="0" y="0"/>
            <a:chExt cx="8412480" cy="72357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412480" cy="723578"/>
            </a:xfrm>
            <a:custGeom>
              <a:avLst/>
              <a:gdLst/>
              <a:ahLst/>
              <a:cxnLst/>
              <a:rect l="l" t="t" r="r" b="b"/>
              <a:pathLst>
                <a:path w="8412480" h="723578">
                  <a:moveTo>
                    <a:pt x="0" y="0"/>
                  </a:moveTo>
                  <a:lnTo>
                    <a:pt x="8412480" y="0"/>
                  </a:lnTo>
                  <a:lnTo>
                    <a:pt x="8412480" y="723578"/>
                  </a:lnTo>
                  <a:lnTo>
                    <a:pt x="0" y="723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413" b="-16866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8412480" cy="7807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Glance AI Architecture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228832" y="6858000"/>
            <a:ext cx="6309360" cy="1980623"/>
            <a:chOff x="0" y="0"/>
            <a:chExt cx="8412480" cy="264083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412480" cy="2640831"/>
            </a:xfrm>
            <a:custGeom>
              <a:avLst/>
              <a:gdLst/>
              <a:ahLst/>
              <a:cxnLst/>
              <a:rect l="l" t="t" r="r" b="b"/>
              <a:pathLst>
                <a:path w="8412480" h="2640831">
                  <a:moveTo>
                    <a:pt x="0" y="0"/>
                  </a:moveTo>
                  <a:lnTo>
                    <a:pt x="8412480" y="0"/>
                  </a:lnTo>
                  <a:lnTo>
                    <a:pt x="8412480" y="2640831"/>
                  </a:lnTo>
                  <a:lnTo>
                    <a:pt x="0" y="2640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3" b="-8237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412480" cy="26884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Proprietary AI combining smart machine learning and real-time visualization. Studies user habits to automatically predict what content, game, or product a user wants to see — before they even search.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7200" y="9784080"/>
            <a:ext cx="17373600" cy="402336"/>
            <a:chOff x="0" y="0"/>
            <a:chExt cx="23164800" cy="5364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3164800" cy="536448"/>
            </a:xfrm>
            <a:custGeom>
              <a:avLst/>
              <a:gdLst/>
              <a:ahLst/>
              <a:cxnLst/>
              <a:rect l="l" t="t" r="r" b="b"/>
              <a:pathLst>
                <a:path w="23164800" h="536448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1399" b="-79139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231648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i="1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Product definitions sourced from InMobi Mobile Marketing Handbooks (2023–2025).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Analysis &amp; Consumer Insights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Decoding user preferences, festive traffic spikes, and mobile shopping habits in India.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1998983"/>
            <a:ext cx="18313403" cy="2494283"/>
            <a:chOff x="0" y="0"/>
            <a:chExt cx="24417871" cy="33257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3325749"/>
            </a:xfrm>
            <a:custGeom>
              <a:avLst/>
              <a:gdLst/>
              <a:ahLst/>
              <a:cxnLst/>
              <a:rect l="l" t="t" r="r" b="b"/>
              <a:pathLst>
                <a:path w="24417910" h="3325749">
                  <a:moveTo>
                    <a:pt x="0" y="0"/>
                  </a:moveTo>
                  <a:lnTo>
                    <a:pt x="24417910" y="0"/>
                  </a:lnTo>
                  <a:lnTo>
                    <a:pt x="24417910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F4F8F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53063" y="2401319"/>
            <a:ext cx="976379" cy="976379"/>
            <a:chOff x="0" y="0"/>
            <a:chExt cx="1301839" cy="130183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65760" y="2450592"/>
            <a:ext cx="950976" cy="841248"/>
            <a:chOff x="0" y="0"/>
            <a:chExt cx="1267968" cy="11216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67968" cy="1121664"/>
            </a:xfrm>
            <a:custGeom>
              <a:avLst/>
              <a:gdLst/>
              <a:ahLst/>
              <a:cxnLst/>
              <a:rect l="l" t="t" r="r" b="b"/>
              <a:pathLst>
                <a:path w="1267968" h="1121664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r="-6349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267968" cy="11407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4480" y="2194560"/>
            <a:ext cx="8229600" cy="512064"/>
            <a:chOff x="0" y="0"/>
            <a:chExt cx="10972800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0" cy="682752"/>
            </a:xfrm>
            <a:custGeom>
              <a:avLst/>
              <a:gdLst/>
              <a:ahLst/>
              <a:cxnLst/>
              <a:rect l="l" t="t" r="r" b="b"/>
              <a:pathLst>
                <a:path w="10972800" h="682752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Consumer Content Affinity Analysis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54480" y="2779776"/>
            <a:ext cx="8229600" cy="1609344"/>
            <a:chOff x="0" y="0"/>
            <a:chExt cx="10972800" cy="21457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72800" cy="2145792"/>
            </a:xfrm>
            <a:custGeom>
              <a:avLst/>
              <a:gdLst/>
              <a:ahLst/>
              <a:cxnLst/>
              <a:rect l="l" t="t" r="r" b="b"/>
              <a:pathLst>
                <a:path w="10972800" h="2145792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39" b="-4963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972800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On-device tracking shows Indian users prefer visual, bite-sized updates. Lock-screen discovery traffic dominated by National News (21%), Sports (17%), and Entertainment (12%). Single-tap live updates outperform traditional app or web browsing.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41280" y="2340864"/>
            <a:ext cx="2377440" cy="914400"/>
            <a:chOff x="0" y="0"/>
            <a:chExt cx="316992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21%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96144" y="3328416"/>
            <a:ext cx="2267712" cy="731520"/>
            <a:chOff x="0" y="0"/>
            <a:chExt cx="3023616" cy="9753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National News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893040" y="2340864"/>
            <a:ext cx="2377440" cy="914400"/>
            <a:chOff x="0" y="0"/>
            <a:chExt cx="316992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17%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47904" y="3328416"/>
            <a:ext cx="2267712" cy="731520"/>
            <a:chOff x="0" y="0"/>
            <a:chExt cx="3023616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544800" y="2340864"/>
            <a:ext cx="2377440" cy="914400"/>
            <a:chOff x="0" y="0"/>
            <a:chExt cx="316992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599664" y="3328416"/>
            <a:ext cx="2267712" cy="731520"/>
            <a:chOff x="0" y="0"/>
            <a:chExt cx="3023616" cy="975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Entertainment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-12697" y="4687319"/>
            <a:ext cx="18313403" cy="2494283"/>
            <a:chOff x="0" y="0"/>
            <a:chExt cx="24417871" cy="332571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17910" cy="3325749"/>
            </a:xfrm>
            <a:custGeom>
              <a:avLst/>
              <a:gdLst/>
              <a:ahLst/>
              <a:cxnLst/>
              <a:rect l="l" t="t" r="r" b="b"/>
              <a:pathLst>
                <a:path w="24417910" h="3325749">
                  <a:moveTo>
                    <a:pt x="0" y="0"/>
                  </a:moveTo>
                  <a:lnTo>
                    <a:pt x="24417910" y="0"/>
                  </a:lnTo>
                  <a:lnTo>
                    <a:pt x="24417910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EAF4FB"/>
            </a:solidFill>
            <a:ln w="25400" cap="sq">
              <a:solidFill>
                <a:srgbClr val="F4F8FB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353063" y="5089655"/>
            <a:ext cx="976379" cy="976379"/>
            <a:chOff x="0" y="0"/>
            <a:chExt cx="1301839" cy="130183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65760" y="5138928"/>
            <a:ext cx="950976" cy="841248"/>
            <a:chOff x="0" y="0"/>
            <a:chExt cx="1267968" cy="112166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67968" cy="1121664"/>
            </a:xfrm>
            <a:custGeom>
              <a:avLst/>
              <a:gdLst/>
              <a:ahLst/>
              <a:cxnLst/>
              <a:rect l="l" t="t" r="r" b="b"/>
              <a:pathLst>
                <a:path w="1267968" h="1121664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r="-6349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267968" cy="11407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554480" y="4882896"/>
            <a:ext cx="8229600" cy="512064"/>
            <a:chOff x="0" y="0"/>
            <a:chExt cx="10972800" cy="6827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72800" cy="682752"/>
            </a:xfrm>
            <a:custGeom>
              <a:avLst/>
              <a:gdLst/>
              <a:ahLst/>
              <a:cxnLst/>
              <a:rect l="l" t="t" r="r" b="b"/>
              <a:pathLst>
                <a:path w="10972800" h="682752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Festive Ad Interaction &amp; Traffic Surge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554480" y="5468112"/>
            <a:ext cx="8229600" cy="1609344"/>
            <a:chOff x="0" y="0"/>
            <a:chExt cx="10972800" cy="21457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972800" cy="2145792"/>
            </a:xfrm>
            <a:custGeom>
              <a:avLst/>
              <a:gdLst/>
              <a:ahLst/>
              <a:cxnLst/>
              <a:rect l="l" t="t" r="r" b="b"/>
              <a:pathLst>
                <a:path w="10972800" h="2145792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39" b="-49639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0972800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Lock-screen ad campaigns during Diwali &amp; festive seasons show massive conversion boosts vs. standard apps. Brands reaching consumers at 'screen-light' moment drive immediate purchasing action.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41280" y="5029200"/>
            <a:ext cx="2377440" cy="914400"/>
            <a:chOff x="0" y="0"/>
            <a:chExt cx="3169920" cy="12192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+204%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296144" y="6016752"/>
            <a:ext cx="2267712" cy="731520"/>
            <a:chOff x="0" y="0"/>
            <a:chExt cx="3023616" cy="9753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Quick-Commerce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893040" y="5029200"/>
            <a:ext cx="2377440" cy="914400"/>
            <a:chOff x="0" y="0"/>
            <a:chExt cx="3169920" cy="1219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+202%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947904" y="6016752"/>
            <a:ext cx="2267712" cy="731520"/>
            <a:chOff x="0" y="0"/>
            <a:chExt cx="3023616" cy="9753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E-Commerce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544800" y="5029200"/>
            <a:ext cx="2377440" cy="914400"/>
            <a:chOff x="0" y="0"/>
            <a:chExt cx="3169920" cy="12192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+106%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599664" y="6016752"/>
            <a:ext cx="2267712" cy="731520"/>
            <a:chOff x="0" y="0"/>
            <a:chExt cx="3023616" cy="9753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OTT Streaming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-12697" y="7375655"/>
            <a:ext cx="18313403" cy="2494283"/>
            <a:chOff x="0" y="0"/>
            <a:chExt cx="24417871" cy="3325711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417910" cy="3325749"/>
            </a:xfrm>
            <a:custGeom>
              <a:avLst/>
              <a:gdLst/>
              <a:ahLst/>
              <a:cxnLst/>
              <a:rect l="l" t="t" r="r" b="b"/>
              <a:pathLst>
                <a:path w="24417910" h="3325749">
                  <a:moveTo>
                    <a:pt x="0" y="0"/>
                  </a:moveTo>
                  <a:lnTo>
                    <a:pt x="24417910" y="0"/>
                  </a:lnTo>
                  <a:lnTo>
                    <a:pt x="24417910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F4F8FB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353063" y="7777991"/>
            <a:ext cx="976379" cy="976379"/>
            <a:chOff x="0" y="0"/>
            <a:chExt cx="1301839" cy="130183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650875"/>
                  </a:moveTo>
                  <a:cubicBezTo>
                    <a:pt x="0" y="291465"/>
                    <a:pt x="291465" y="0"/>
                    <a:pt x="650875" y="0"/>
                  </a:cubicBezTo>
                  <a:cubicBezTo>
                    <a:pt x="1010285" y="0"/>
                    <a:pt x="1301750" y="291465"/>
                    <a:pt x="1301750" y="650875"/>
                  </a:cubicBezTo>
                  <a:cubicBezTo>
                    <a:pt x="1301750" y="1010285"/>
                    <a:pt x="1010285" y="1301750"/>
                    <a:pt x="650875" y="1301750"/>
                  </a:cubicBezTo>
                  <a:cubicBezTo>
                    <a:pt x="291465" y="1301750"/>
                    <a:pt x="0" y="1010412"/>
                    <a:pt x="0" y="650875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365760" y="7827264"/>
            <a:ext cx="950976" cy="841248"/>
            <a:chOff x="0" y="0"/>
            <a:chExt cx="1267968" cy="112166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67968" cy="1121664"/>
            </a:xfrm>
            <a:custGeom>
              <a:avLst/>
              <a:gdLst/>
              <a:ahLst/>
              <a:cxnLst/>
              <a:rect l="l" t="t" r="r" b="b"/>
              <a:pathLst>
                <a:path w="1267968" h="1121664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r="-6349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267968" cy="11407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54480" y="7571232"/>
            <a:ext cx="8229600" cy="512064"/>
            <a:chOff x="0" y="0"/>
            <a:chExt cx="10972800" cy="68275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972800" cy="682752"/>
            </a:xfrm>
            <a:custGeom>
              <a:avLst/>
              <a:gdLst/>
              <a:ahLst/>
              <a:cxnLst/>
              <a:rect l="l" t="t" r="r" b="b"/>
              <a:pathLst>
                <a:path w="10972800" h="682752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152" b="-263152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Connected Shopper Mindset (2025)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54480" y="8156448"/>
            <a:ext cx="8229600" cy="1609344"/>
            <a:chOff x="0" y="0"/>
            <a:chExt cx="10972800" cy="214579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972800" cy="2145792"/>
            </a:xfrm>
            <a:custGeom>
              <a:avLst/>
              <a:gdLst/>
              <a:ahLst/>
              <a:cxnLst/>
              <a:rect l="l" t="t" r="r" b="b"/>
              <a:pathLst>
                <a:path w="10972800" h="2145792">
                  <a:moveTo>
                    <a:pt x="0" y="0"/>
                  </a:moveTo>
                  <a:lnTo>
                    <a:pt x="10972800" y="0"/>
                  </a:lnTo>
                  <a:lnTo>
                    <a:pt x="1097280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39" b="-49639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0972800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Indian shoppers are highly connected and expect interactive, intelligent experiences. 4 in 5 shoppers actively seek AI-driven product recommendations that predict wants without requiring search.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241280" y="7717536"/>
            <a:ext cx="2377440" cy="914400"/>
            <a:chOff x="0" y="0"/>
            <a:chExt cx="3169920" cy="12192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85%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296144" y="8705088"/>
            <a:ext cx="2267712" cy="731520"/>
            <a:chOff x="0" y="0"/>
            <a:chExt cx="3023616" cy="97536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Shopping = Top Activity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2893040" y="7717536"/>
            <a:ext cx="2377440" cy="914400"/>
            <a:chOff x="0" y="0"/>
            <a:chExt cx="3169920" cy="1219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83%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947904" y="8705088"/>
            <a:ext cx="2267712" cy="731520"/>
            <a:chOff x="0" y="0"/>
            <a:chExt cx="3023616" cy="97536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While In-Store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5544800" y="7717536"/>
            <a:ext cx="2377440" cy="914400"/>
            <a:chOff x="0" y="0"/>
            <a:chExt cx="3169920" cy="12192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169920" cy="1219200"/>
            </a:xfrm>
            <a:custGeom>
              <a:avLst/>
              <a:gdLst/>
              <a:ahLst/>
              <a:cxnLst/>
              <a:rect l="l" t="t" r="r" b="b"/>
              <a:pathLst>
                <a:path w="3169920" h="1219200">
                  <a:moveTo>
                    <a:pt x="0" y="0"/>
                  </a:moveTo>
                  <a:lnTo>
                    <a:pt x="3169920" y="0"/>
                  </a:lnTo>
                  <a:lnTo>
                    <a:pt x="3169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1" b="-661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316992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b="1">
                  <a:solidFill>
                    <a:srgbClr val="1A4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80%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5599664" y="8705088"/>
            <a:ext cx="2267712" cy="731520"/>
            <a:chOff x="0" y="0"/>
            <a:chExt cx="3023616" cy="97536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023616" cy="975360"/>
            </a:xfrm>
            <a:custGeom>
              <a:avLst/>
              <a:gdLst/>
              <a:ahLst/>
              <a:cxnLst/>
              <a:rect l="l" t="t" r="r" b="b"/>
              <a:pathLst>
                <a:path w="3023616" h="975360">
                  <a:moveTo>
                    <a:pt x="0" y="0"/>
                  </a:moveTo>
                  <a:lnTo>
                    <a:pt x="3023616" y="0"/>
                  </a:lnTo>
                  <a:lnTo>
                    <a:pt x="3023616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03" b="-10403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3023616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1A4A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 AI Recs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Visualizations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Lock screen engagement, festive ad lift, and AI shopper trends — all in one view.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53524" y="3295421"/>
            <a:ext cx="8890481" cy="5469698"/>
          </a:xfrm>
          <a:custGeom>
            <a:avLst/>
            <a:gdLst/>
            <a:ahLst/>
            <a:cxnLst/>
            <a:rect l="l" t="t" r="r" b="b"/>
            <a:pathLst>
              <a:path w="8890481" h="5469698">
                <a:moveTo>
                  <a:pt x="0" y="0"/>
                </a:moveTo>
                <a:lnTo>
                  <a:pt x="8890481" y="0"/>
                </a:lnTo>
                <a:lnTo>
                  <a:pt x="8890481" y="5469698"/>
                </a:lnTo>
                <a:lnTo>
                  <a:pt x="0" y="54696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0" r="-232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61530" y="2019493"/>
            <a:ext cx="8161475" cy="3744076"/>
          </a:xfrm>
          <a:custGeom>
            <a:avLst/>
            <a:gdLst/>
            <a:ahLst/>
            <a:cxnLst/>
            <a:rect l="l" t="t" r="r" b="b"/>
            <a:pathLst>
              <a:path w="8161475" h="3744076">
                <a:moveTo>
                  <a:pt x="0" y="0"/>
                </a:moveTo>
                <a:lnTo>
                  <a:pt x="8161474" y="0"/>
                </a:lnTo>
                <a:lnTo>
                  <a:pt x="8161474" y="3744077"/>
                </a:lnTo>
                <a:lnTo>
                  <a:pt x="0" y="3744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61530" y="6135045"/>
            <a:ext cx="7972694" cy="3677405"/>
          </a:xfrm>
          <a:custGeom>
            <a:avLst/>
            <a:gdLst/>
            <a:ahLst/>
            <a:cxnLst/>
            <a:rect l="l" t="t" r="r" b="b"/>
            <a:pathLst>
              <a:path w="7972694" h="3677405">
                <a:moveTo>
                  <a:pt x="0" y="0"/>
                </a:moveTo>
                <a:lnTo>
                  <a:pt x="7972694" y="0"/>
                </a:lnTo>
                <a:lnTo>
                  <a:pt x="7972694" y="3677405"/>
                </a:lnTo>
                <a:lnTo>
                  <a:pt x="0" y="3677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Success Factors &amp; Business Challenges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Makes InMobi Win and What It Must Avoid.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1816103"/>
            <a:ext cx="6974843" cy="8437883"/>
            <a:chOff x="0" y="0"/>
            <a:chExt cx="9299791" cy="112505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99829" cy="11250549"/>
            </a:xfrm>
            <a:custGeom>
              <a:avLst/>
              <a:gdLst/>
              <a:ahLst/>
              <a:cxnLst/>
              <a:rect l="l" t="t" r="r" b="b"/>
              <a:pathLst>
                <a:path w="9299829" h="11250549">
                  <a:moveTo>
                    <a:pt x="0" y="0"/>
                  </a:moveTo>
                  <a:lnTo>
                    <a:pt x="9299829" y="0"/>
                  </a:lnTo>
                  <a:lnTo>
                    <a:pt x="9299829" y="11250549"/>
                  </a:lnTo>
                  <a:lnTo>
                    <a:pt x="0" y="1125054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74320" y="2011680"/>
            <a:ext cx="6400800" cy="640080"/>
            <a:chOff x="0" y="0"/>
            <a:chExt cx="853440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34400" cy="853440"/>
            </a:xfrm>
            <a:custGeom>
              <a:avLst/>
              <a:gdLst/>
              <a:ahLst/>
              <a:cxnLst/>
              <a:rect l="l" t="t" r="r" b="b"/>
              <a:pathLst>
                <a:path w="8534400" h="85344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8534400" cy="872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spc="499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INMOBI SUCCEEDS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1623" y="2913383"/>
            <a:ext cx="537467" cy="537467"/>
            <a:chOff x="0" y="0"/>
            <a:chExt cx="716623" cy="7166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6661" cy="716661"/>
            </a:xfrm>
            <a:custGeom>
              <a:avLst/>
              <a:gdLst/>
              <a:ahLst/>
              <a:cxnLst/>
              <a:rect l="l" t="t" r="r" b="b"/>
              <a:pathLst>
                <a:path w="716661" h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50976" y="2889504"/>
            <a:ext cx="5669280" cy="548640"/>
            <a:chOff x="0" y="0"/>
            <a:chExt cx="755904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59040" cy="731520"/>
            </a:xfrm>
            <a:custGeom>
              <a:avLst/>
              <a:gdLst/>
              <a:ahLst/>
              <a:cxnLst/>
              <a:rect l="l" t="t" r="r" b="b"/>
              <a:pathLst>
                <a:path w="7559040" h="73152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345" b="-15134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7559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Into the Phone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0976" y="3474720"/>
            <a:ext cx="5669280" cy="1463040"/>
            <a:chOff x="0" y="0"/>
            <a:chExt cx="7559040" cy="19507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59040" cy="1950720"/>
            </a:xfrm>
            <a:custGeom>
              <a:avLst/>
              <a:gdLst/>
              <a:ahLst/>
              <a:cxnLst/>
              <a:rect l="l" t="t" r="r" b="b"/>
              <a:pathLst>
                <a:path w="7559040" h="1950720">
                  <a:moveTo>
                    <a:pt x="0" y="0"/>
                  </a:moveTo>
                  <a:lnTo>
                    <a:pt x="7559040" y="0"/>
                  </a:lnTo>
                  <a:lnTo>
                    <a:pt x="7559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04" b="-2550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7559040" cy="1998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8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Partners directly with Samsung, Xiaomi &amp; top OEMs. Glance pre-installed before a user ever unlocks their device.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1623" y="5254247"/>
            <a:ext cx="537467" cy="537467"/>
            <a:chOff x="0" y="0"/>
            <a:chExt cx="716623" cy="7166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6661" cy="716661"/>
            </a:xfrm>
            <a:custGeom>
              <a:avLst/>
              <a:gdLst/>
              <a:ahLst/>
              <a:cxnLst/>
              <a:rect l="l" t="t" r="r" b="b"/>
              <a:pathLst>
                <a:path w="716661" h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50976" y="5230368"/>
            <a:ext cx="5669280" cy="548640"/>
            <a:chOff x="0" y="0"/>
            <a:chExt cx="755904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559040" cy="731520"/>
            </a:xfrm>
            <a:custGeom>
              <a:avLst/>
              <a:gdLst/>
              <a:ahLst/>
              <a:cxnLst/>
              <a:rect l="l" t="t" r="r" b="b"/>
              <a:pathLst>
                <a:path w="7559040" h="73152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345" b="-15134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7559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AI Feed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0976" y="5815584"/>
            <a:ext cx="5669280" cy="1463040"/>
            <a:chOff x="0" y="0"/>
            <a:chExt cx="7559040" cy="19507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559040" cy="1950720"/>
            </a:xfrm>
            <a:custGeom>
              <a:avLst/>
              <a:gdLst/>
              <a:ahLst/>
              <a:cxnLst/>
              <a:rect l="l" t="t" r="r" b="b"/>
              <a:pathLst>
                <a:path w="7559040" h="1950720">
                  <a:moveTo>
                    <a:pt x="0" y="0"/>
                  </a:moveTo>
                  <a:lnTo>
                    <a:pt x="7559040" y="0"/>
                  </a:lnTo>
                  <a:lnTo>
                    <a:pt x="7559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04" b="-2550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7559040" cy="1998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8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Glance AI studies user preferences and automatically surfaces the right content, game, or product instantly.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61623" y="7595111"/>
            <a:ext cx="537467" cy="537467"/>
            <a:chOff x="0" y="0"/>
            <a:chExt cx="716623" cy="71662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16661" cy="716661"/>
            </a:xfrm>
            <a:custGeom>
              <a:avLst/>
              <a:gdLst/>
              <a:ahLst/>
              <a:cxnLst/>
              <a:rect l="l" t="t" r="r" b="b"/>
              <a:pathLst>
                <a:path w="716661" h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cubicBezTo>
                    <a:pt x="556133" y="0"/>
                    <a:pt x="716661" y="160401"/>
                    <a:pt x="716661" y="358267"/>
                  </a:cubicBezTo>
                  <a:cubicBezTo>
                    <a:pt x="716661" y="556133"/>
                    <a:pt x="556260" y="716661"/>
                    <a:pt x="358267" y="716661"/>
                  </a:cubicBezTo>
                  <a:cubicBezTo>
                    <a:pt x="160274" y="716661"/>
                    <a:pt x="0" y="556260"/>
                    <a:pt x="0" y="358267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50976" y="7571232"/>
            <a:ext cx="5669280" cy="548640"/>
            <a:chOff x="0" y="0"/>
            <a:chExt cx="755904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59040" cy="731520"/>
            </a:xfrm>
            <a:custGeom>
              <a:avLst/>
              <a:gdLst/>
              <a:ahLst/>
              <a:cxnLst/>
              <a:rect l="l" t="t" r="r" b="b"/>
              <a:pathLst>
                <a:path w="7559040" h="73152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345" b="-15134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7559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All-in-One Network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0976" y="8156448"/>
            <a:ext cx="5669280" cy="1463040"/>
            <a:chOff x="0" y="0"/>
            <a:chExt cx="7559040" cy="19507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559040" cy="1950720"/>
            </a:xfrm>
            <a:custGeom>
              <a:avLst/>
              <a:gdLst/>
              <a:ahLst/>
              <a:cxnLst/>
              <a:rect l="l" t="t" r="r" b="b"/>
              <a:pathLst>
                <a:path w="7559040" h="1950720">
                  <a:moveTo>
                    <a:pt x="0" y="0"/>
                  </a:moveTo>
                  <a:lnTo>
                    <a:pt x="7559040" y="0"/>
                  </a:lnTo>
                  <a:lnTo>
                    <a:pt x="75590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504" b="-2550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7559040" cy="1998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8D0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Seamlessly connects business ads, lock screen news, and live shopping into one unified ecosystem.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85383" y="1816103"/>
            <a:ext cx="10358123" cy="4140203"/>
            <a:chOff x="0" y="0"/>
            <a:chExt cx="13810831" cy="552027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810869" cy="5520309"/>
            </a:xfrm>
            <a:custGeom>
              <a:avLst/>
              <a:gdLst/>
              <a:ahLst/>
              <a:cxnLst/>
              <a:rect l="l" t="t" r="r" b="b"/>
              <a:pathLst>
                <a:path w="13810869" h="5520309">
                  <a:moveTo>
                    <a:pt x="0" y="0"/>
                  </a:moveTo>
                  <a:lnTo>
                    <a:pt x="13810869" y="0"/>
                  </a:lnTo>
                  <a:lnTo>
                    <a:pt x="13810869" y="5520309"/>
                  </a:lnTo>
                  <a:lnTo>
                    <a:pt x="0" y="55203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485383" y="1816103"/>
            <a:ext cx="10358123" cy="976379"/>
            <a:chOff x="0" y="0"/>
            <a:chExt cx="13810831" cy="13018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810869" cy="1301877"/>
            </a:xfrm>
            <a:custGeom>
              <a:avLst/>
              <a:gdLst/>
              <a:ahLst/>
              <a:cxnLst/>
              <a:rect l="l" t="t" r="r" b="b"/>
              <a:pathLst>
                <a:path w="13810869" h="1301877">
                  <a:moveTo>
                    <a:pt x="0" y="0"/>
                  </a:moveTo>
                  <a:lnTo>
                    <a:pt x="13810869" y="0"/>
                  </a:lnTo>
                  <a:lnTo>
                    <a:pt x="138108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772400" y="1938528"/>
            <a:ext cx="9692640" cy="694944"/>
            <a:chOff x="0" y="0"/>
            <a:chExt cx="12923520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923520" cy="926592"/>
            </a:xfrm>
            <a:custGeom>
              <a:avLst/>
              <a:gdLst/>
              <a:ahLst/>
              <a:cxnLst/>
              <a:rect l="l" t="t" r="r" b="b"/>
              <a:pathLst>
                <a:path w="12923520" h="926592">
                  <a:moveTo>
                    <a:pt x="0" y="0"/>
                  </a:moveTo>
                  <a:lnTo>
                    <a:pt x="12923520" y="0"/>
                  </a:lnTo>
                  <a:lnTo>
                    <a:pt x="12923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765" b="-22176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1292352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Daily Business Challenges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85383" y="2913383"/>
            <a:ext cx="3225803" cy="2860043"/>
            <a:chOff x="0" y="0"/>
            <a:chExt cx="4301071" cy="381339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301109" cy="3813429"/>
            </a:xfrm>
            <a:custGeom>
              <a:avLst/>
              <a:gdLst/>
              <a:ahLst/>
              <a:cxnLst/>
              <a:rect l="l" t="t" r="r" b="b"/>
              <a:pathLst>
                <a:path w="4301109" h="3813429">
                  <a:moveTo>
                    <a:pt x="0" y="0"/>
                  </a:moveTo>
                  <a:lnTo>
                    <a:pt x="4301109" y="0"/>
                  </a:lnTo>
                  <a:lnTo>
                    <a:pt x="430110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7589520" y="3017520"/>
            <a:ext cx="3017520" cy="640080"/>
            <a:chOff x="0" y="0"/>
            <a:chExt cx="4023360" cy="8534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Goldfish Problem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589520" y="3694176"/>
            <a:ext cx="3017520" cy="1920240"/>
            <a:chOff x="0" y="0"/>
            <a:chExt cx="4023360" cy="25603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023360" cy="2560320"/>
            </a:xfrm>
            <a:custGeom>
              <a:avLst/>
              <a:gdLst/>
              <a:ahLst/>
              <a:cxnLst/>
              <a:rect l="l" t="t" r="r" b="b"/>
              <a:pathLst>
                <a:path w="4023360" h="2560320">
                  <a:moveTo>
                    <a:pt x="0" y="0"/>
                  </a:moveTo>
                  <a:lnTo>
                    <a:pt x="4023360" y="0"/>
                  </a:lnTo>
                  <a:lnTo>
                    <a:pt x="40233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r="-3164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4023360" cy="2607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Human attention spans have dropped to 8.25 seconds. Content must catch the eye instantly.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923527" y="2913383"/>
            <a:ext cx="3225803" cy="2860043"/>
            <a:chOff x="0" y="0"/>
            <a:chExt cx="4301071" cy="381339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01109" cy="3813429"/>
            </a:xfrm>
            <a:custGeom>
              <a:avLst/>
              <a:gdLst/>
              <a:ahLst/>
              <a:cxnLst/>
              <a:rect l="l" t="t" r="r" b="b"/>
              <a:pathLst>
                <a:path w="4301109" h="3813429">
                  <a:moveTo>
                    <a:pt x="0" y="0"/>
                  </a:moveTo>
                  <a:lnTo>
                    <a:pt x="4301109" y="0"/>
                  </a:lnTo>
                  <a:lnTo>
                    <a:pt x="430110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1027664" y="3017520"/>
            <a:ext cx="3017520" cy="640080"/>
            <a:chOff x="0" y="0"/>
            <a:chExt cx="402336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Download Fatigue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027664" y="3694176"/>
            <a:ext cx="3017520" cy="1920240"/>
            <a:chOff x="0" y="0"/>
            <a:chExt cx="4023360" cy="25603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23360" cy="2560320"/>
            </a:xfrm>
            <a:custGeom>
              <a:avLst/>
              <a:gdLst/>
              <a:ahLst/>
              <a:cxnLst/>
              <a:rect l="l" t="t" r="r" b="b"/>
              <a:pathLst>
                <a:path w="4023360" h="2560320">
                  <a:moveTo>
                    <a:pt x="0" y="0"/>
                  </a:moveTo>
                  <a:lnTo>
                    <a:pt x="4023360" y="0"/>
                  </a:lnTo>
                  <a:lnTo>
                    <a:pt x="40233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r="-3164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4023360" cy="2607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are tired of multiple apps. They want everything in one tap.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361671" y="2913383"/>
            <a:ext cx="3225803" cy="2860043"/>
            <a:chOff x="0" y="0"/>
            <a:chExt cx="4301071" cy="3813391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301109" cy="3813429"/>
            </a:xfrm>
            <a:custGeom>
              <a:avLst/>
              <a:gdLst/>
              <a:ahLst/>
              <a:cxnLst/>
              <a:rect l="l" t="t" r="r" b="b"/>
              <a:pathLst>
                <a:path w="4301109" h="3813429">
                  <a:moveTo>
                    <a:pt x="0" y="0"/>
                  </a:moveTo>
                  <a:lnTo>
                    <a:pt x="4301109" y="0"/>
                  </a:lnTo>
                  <a:lnTo>
                    <a:pt x="430110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4465808" y="3017520"/>
            <a:ext cx="3017520" cy="640080"/>
            <a:chOff x="0" y="0"/>
            <a:chExt cx="4023360" cy="8534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A4A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 Many Bad Ads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465808" y="3694176"/>
            <a:ext cx="3017520" cy="1920240"/>
            <a:chOff x="0" y="0"/>
            <a:chExt cx="4023360" cy="25603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023360" cy="2560320"/>
            </a:xfrm>
            <a:custGeom>
              <a:avLst/>
              <a:gdLst/>
              <a:ahLst/>
              <a:cxnLst/>
              <a:rect l="l" t="t" r="r" b="b"/>
              <a:pathLst>
                <a:path w="4023360" h="2560320">
                  <a:moveTo>
                    <a:pt x="0" y="0"/>
                  </a:moveTo>
                  <a:lnTo>
                    <a:pt x="4023360" y="0"/>
                  </a:lnTo>
                  <a:lnTo>
                    <a:pt x="40233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r="-3164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4023360" cy="2607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pop-up ads annoy users. Brands must switch to fun, interactive content.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485383" y="6205223"/>
            <a:ext cx="10358123" cy="4048763"/>
            <a:chOff x="0" y="0"/>
            <a:chExt cx="13810831" cy="539835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810869" cy="5398389"/>
            </a:xfrm>
            <a:custGeom>
              <a:avLst/>
              <a:gdLst/>
              <a:ahLst/>
              <a:cxnLst/>
              <a:rect l="l" t="t" r="r" b="b"/>
              <a:pathLst>
                <a:path w="13810869" h="5398389">
                  <a:moveTo>
                    <a:pt x="0" y="0"/>
                  </a:moveTo>
                  <a:lnTo>
                    <a:pt x="13810869" y="0"/>
                  </a:lnTo>
                  <a:lnTo>
                    <a:pt x="13810869" y="5398389"/>
                  </a:lnTo>
                  <a:lnTo>
                    <a:pt x="0" y="539838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7485383" y="6205223"/>
            <a:ext cx="10358123" cy="976379"/>
            <a:chOff x="0" y="0"/>
            <a:chExt cx="13810831" cy="130183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3810869" cy="1301877"/>
            </a:xfrm>
            <a:custGeom>
              <a:avLst/>
              <a:gdLst/>
              <a:ahLst/>
              <a:cxnLst/>
              <a:rect l="l" t="t" r="r" b="b"/>
              <a:pathLst>
                <a:path w="13810869" h="1301877">
                  <a:moveTo>
                    <a:pt x="0" y="0"/>
                  </a:moveTo>
                  <a:lnTo>
                    <a:pt x="13810869" y="0"/>
                  </a:lnTo>
                  <a:lnTo>
                    <a:pt x="1381086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7772400" y="6327648"/>
            <a:ext cx="9692640" cy="694944"/>
            <a:chOff x="0" y="0"/>
            <a:chExt cx="12923520" cy="9265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923520" cy="926592"/>
            </a:xfrm>
            <a:custGeom>
              <a:avLst/>
              <a:gdLst/>
              <a:ahLst/>
              <a:cxnLst/>
              <a:rect l="l" t="t" r="r" b="b"/>
              <a:pathLst>
                <a:path w="12923520" h="926592">
                  <a:moveTo>
                    <a:pt x="0" y="0"/>
                  </a:moveTo>
                  <a:lnTo>
                    <a:pt x="12923520" y="0"/>
                  </a:lnTo>
                  <a:lnTo>
                    <a:pt x="12923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1765" b="-22176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66675"/>
              <a:ext cx="1292352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Privacy &amp; Content Risks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485383" y="7302503"/>
            <a:ext cx="3225803" cy="2677163"/>
            <a:chOff x="0" y="0"/>
            <a:chExt cx="4301071" cy="356955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301109" cy="3569589"/>
            </a:xfrm>
            <a:custGeom>
              <a:avLst/>
              <a:gdLst/>
              <a:ahLst/>
              <a:cxnLst/>
              <a:rect l="l" t="t" r="r" b="b"/>
              <a:pathLst>
                <a:path w="4301109" h="3569589">
                  <a:moveTo>
                    <a:pt x="0" y="0"/>
                  </a:moveTo>
                  <a:lnTo>
                    <a:pt x="4301109" y="0"/>
                  </a:lnTo>
                  <a:lnTo>
                    <a:pt x="430110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7589520" y="7406640"/>
            <a:ext cx="3017520" cy="640080"/>
            <a:chOff x="0" y="0"/>
            <a:chExt cx="4023360" cy="8534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Privacy Laws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589520" y="8083296"/>
            <a:ext cx="3017520" cy="1737360"/>
            <a:chOff x="0" y="0"/>
            <a:chExt cx="4023360" cy="23164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023360" cy="2316480"/>
            </a:xfrm>
            <a:custGeom>
              <a:avLst/>
              <a:gdLst/>
              <a:ahLst/>
              <a:cxnLst/>
              <a:rect l="l" t="t" r="r" b="b"/>
              <a:pathLst>
                <a:path w="4023360" h="2316480">
                  <a:moveTo>
                    <a:pt x="0" y="0"/>
                  </a:moveTo>
                  <a:lnTo>
                    <a:pt x="4023360" y="0"/>
                  </a:lnTo>
                  <a:lnTo>
                    <a:pt x="40233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71" r="-2387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47625"/>
              <a:ext cx="402336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Old user-tracking methods are being blocked. InMobi must find privacy-safe ad delivery.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923527" y="7302503"/>
            <a:ext cx="3225803" cy="2677163"/>
            <a:chOff x="0" y="0"/>
            <a:chExt cx="4301071" cy="356955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301109" cy="3569589"/>
            </a:xfrm>
            <a:custGeom>
              <a:avLst/>
              <a:gdLst/>
              <a:ahLst/>
              <a:cxnLst/>
              <a:rect l="l" t="t" r="r" b="b"/>
              <a:pathLst>
                <a:path w="4301109" h="3569589">
                  <a:moveTo>
                    <a:pt x="0" y="0"/>
                  </a:moveTo>
                  <a:lnTo>
                    <a:pt x="4301109" y="0"/>
                  </a:lnTo>
                  <a:lnTo>
                    <a:pt x="430110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1027664" y="7406640"/>
            <a:ext cx="3017520" cy="640080"/>
            <a:chOff x="0" y="0"/>
            <a:chExt cx="4023360" cy="85344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Keeping Content Safe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1027664" y="8083296"/>
            <a:ext cx="3017520" cy="1737360"/>
            <a:chOff x="0" y="0"/>
            <a:chExt cx="4023360" cy="231648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023360" cy="2316480"/>
            </a:xfrm>
            <a:custGeom>
              <a:avLst/>
              <a:gdLst/>
              <a:ahLst/>
              <a:cxnLst/>
              <a:rect l="l" t="t" r="r" b="b"/>
              <a:pathLst>
                <a:path w="4023360" h="2316480">
                  <a:moveTo>
                    <a:pt x="0" y="0"/>
                  </a:moveTo>
                  <a:lnTo>
                    <a:pt x="4023360" y="0"/>
                  </a:lnTo>
                  <a:lnTo>
                    <a:pt x="40233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71" r="-23871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4023360" cy="2364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 screen must only serve safe, trusted news from premium partners — never random posts.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4361671" y="7302503"/>
            <a:ext cx="3225803" cy="2677163"/>
            <a:chOff x="0" y="0"/>
            <a:chExt cx="4301071" cy="3569551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301109" cy="3569589"/>
            </a:xfrm>
            <a:custGeom>
              <a:avLst/>
              <a:gdLst/>
              <a:ahLst/>
              <a:cxnLst/>
              <a:rect l="l" t="t" r="r" b="b"/>
              <a:pathLst>
                <a:path w="4301109" h="3569589">
                  <a:moveTo>
                    <a:pt x="0" y="0"/>
                  </a:moveTo>
                  <a:lnTo>
                    <a:pt x="4301109" y="0"/>
                  </a:lnTo>
                  <a:lnTo>
                    <a:pt x="430110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14465808" y="7406640"/>
            <a:ext cx="3017520" cy="640080"/>
            <a:chOff x="0" y="0"/>
            <a:chExt cx="4023360" cy="85344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40233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7A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Lock Screen Crowding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465808" y="8083296"/>
            <a:ext cx="3017520" cy="1775333"/>
            <a:chOff x="0" y="0"/>
            <a:chExt cx="4023360" cy="2367111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023360" cy="2367111"/>
            </a:xfrm>
            <a:custGeom>
              <a:avLst/>
              <a:gdLst/>
              <a:ahLst/>
              <a:cxnLst/>
              <a:rect l="l" t="t" r="r" b="b"/>
              <a:pathLst>
                <a:path w="4023360" h="2367111">
                  <a:moveTo>
                    <a:pt x="0" y="0"/>
                  </a:moveTo>
                  <a:lnTo>
                    <a:pt x="4023360" y="0"/>
                  </a:lnTo>
                  <a:lnTo>
                    <a:pt x="4023360" y="2367111"/>
                  </a:lnTo>
                  <a:lnTo>
                    <a:pt x="0" y="2367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71" r="-23871" b="2138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47625"/>
              <a:ext cx="4023360" cy="2414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 many automated suggestions can annoy users who just want a quick glance at their phone.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762763"/>
            <a:chOff x="0" y="0"/>
            <a:chExt cx="24417871" cy="2350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7910" cy="2350389"/>
            </a:xfrm>
            <a:custGeom>
              <a:avLst/>
              <a:gdLst/>
              <a:ahLst/>
              <a:cxnLst/>
              <a:rect l="l" t="t" r="r" b="b"/>
              <a:pathLst>
                <a:path w="24417910" h="2350389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1520" y="182880"/>
            <a:ext cx="16824960" cy="1036402"/>
            <a:chOff x="0" y="0"/>
            <a:chExt cx="22433280" cy="13818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33280" cy="1381869"/>
            </a:xfrm>
            <a:custGeom>
              <a:avLst/>
              <a:gdLst/>
              <a:ahLst/>
              <a:cxnLst/>
              <a:rect l="l" t="t" r="r" b="b"/>
              <a:pathLst>
                <a:path w="22433280" h="1381869">
                  <a:moveTo>
                    <a:pt x="0" y="0"/>
                  </a:moveTo>
                  <a:lnTo>
                    <a:pt x="22433280" y="0"/>
                  </a:lnTo>
                  <a:lnTo>
                    <a:pt x="22433280" y="1381869"/>
                  </a:lnTo>
                  <a:lnTo>
                    <a:pt x="0" y="1381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617" b="-25602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433280" cy="14104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&amp; Next Steps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1042416"/>
            <a:ext cx="16824960" cy="605098"/>
            <a:chOff x="0" y="0"/>
            <a:chExt cx="22433280" cy="8067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806797"/>
            </a:xfrm>
            <a:custGeom>
              <a:avLst/>
              <a:gdLst/>
              <a:ahLst/>
              <a:cxnLst/>
              <a:rect l="l" t="t" r="r" b="b"/>
              <a:pathLst>
                <a:path w="22433280" h="806797">
                  <a:moveTo>
                    <a:pt x="0" y="0"/>
                  </a:moveTo>
                  <a:lnTo>
                    <a:pt x="22433280" y="0"/>
                  </a:lnTo>
                  <a:lnTo>
                    <a:pt x="224332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453" b="-48712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2433280" cy="873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00B4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Brands Can Win the Attention of Modern Shoppers.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2697" y="1816103"/>
            <a:ext cx="18313403" cy="2128523"/>
            <a:chOff x="0" y="0"/>
            <a:chExt cx="24417871" cy="2838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7910" cy="2838069"/>
            </a:xfrm>
            <a:custGeom>
              <a:avLst/>
              <a:gdLst/>
              <a:ahLst/>
              <a:cxnLst/>
              <a:rect l="l" t="t" r="r" b="b"/>
              <a:pathLst>
                <a:path w="24417910" h="2838069">
                  <a:moveTo>
                    <a:pt x="0" y="0"/>
                  </a:moveTo>
                  <a:lnTo>
                    <a:pt x="24417910" y="0"/>
                  </a:lnTo>
                  <a:lnTo>
                    <a:pt x="24417910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D6EAF8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-12697" y="1816103"/>
            <a:ext cx="153419" cy="2128523"/>
            <a:chOff x="0" y="0"/>
            <a:chExt cx="204559" cy="28380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597" cy="2838069"/>
            </a:xfrm>
            <a:custGeom>
              <a:avLst/>
              <a:gdLst/>
              <a:ahLst/>
              <a:cxnLst/>
              <a:rect l="l" t="t" r="r" b="b"/>
              <a:pathLst>
                <a:path w="204597" h="2838069">
                  <a:moveTo>
                    <a:pt x="0" y="0"/>
                  </a:moveTo>
                  <a:lnTo>
                    <a:pt x="204597" y="0"/>
                  </a:lnTo>
                  <a:lnTo>
                    <a:pt x="204597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57200" y="1975104"/>
            <a:ext cx="17373600" cy="1828800"/>
            <a:chOff x="0" y="0"/>
            <a:chExt cx="23164800" cy="2438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164800" cy="2438400"/>
            </a:xfrm>
            <a:custGeom>
              <a:avLst/>
              <a:gdLst/>
              <a:ahLst/>
              <a:cxnLst/>
              <a:rect l="l" t="t" r="r" b="b"/>
              <a:pathLst>
                <a:path w="23164800" h="2438400">
                  <a:moveTo>
                    <a:pt x="0" y="0"/>
                  </a:moveTo>
                  <a:lnTo>
                    <a:pt x="23164800" y="0"/>
                  </a:lnTo>
                  <a:lnTo>
                    <a:pt x="23164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107" b="-13510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3164800" cy="250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A23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Future Outlook: Mobile marketing has fundamentally changed. It is no longer about being on a phone — it is about delivering a great experience instantly. The future belongs to smart systems that show users exactly what they want the very second their phone screen lights up.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4503" y="4193543"/>
            <a:ext cx="5603243" cy="5511803"/>
            <a:chOff x="0" y="0"/>
            <a:chExt cx="7470991" cy="73490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471029" cy="7349109"/>
            </a:xfrm>
            <a:custGeom>
              <a:avLst/>
              <a:gdLst/>
              <a:ahLst/>
              <a:cxnLst/>
              <a:rect l="l" t="t" r="r" b="b"/>
              <a:pathLst>
                <a:path w="7471029" h="7349109">
                  <a:moveTo>
                    <a:pt x="0" y="0"/>
                  </a:moveTo>
                  <a:lnTo>
                    <a:pt x="7471029" y="0"/>
                  </a:lnTo>
                  <a:lnTo>
                    <a:pt x="747102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44503" y="4193543"/>
            <a:ext cx="5603243" cy="976379"/>
            <a:chOff x="0" y="0"/>
            <a:chExt cx="7470991" cy="13018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71029" cy="1301877"/>
            </a:xfrm>
            <a:custGeom>
              <a:avLst/>
              <a:gdLst/>
              <a:ahLst/>
              <a:cxnLst/>
              <a:rect l="l" t="t" r="r" b="b"/>
              <a:pathLst>
                <a:path w="7471029" h="1301877">
                  <a:moveTo>
                    <a:pt x="0" y="0"/>
                  </a:moveTo>
                  <a:lnTo>
                    <a:pt x="7471029" y="0"/>
                  </a:lnTo>
                  <a:lnTo>
                    <a:pt x="747102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76656" y="4297680"/>
            <a:ext cx="5120640" cy="694944"/>
            <a:chOff x="0" y="0"/>
            <a:chExt cx="6827520" cy="926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Three Main Recommendations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3959" y="5437127"/>
            <a:ext cx="281435" cy="281435"/>
            <a:chOff x="0" y="0"/>
            <a:chExt cx="375247" cy="37524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2416" y="5340096"/>
            <a:ext cx="4846320" cy="1243584"/>
            <a:chOff x="0" y="0"/>
            <a:chExt cx="6461760" cy="16581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the Lock Screen — stop spending only on traditional apps; put your brand on standby screens.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3959" y="6808727"/>
            <a:ext cx="281435" cy="281435"/>
            <a:chOff x="0" y="0"/>
            <a:chExt cx="375247" cy="3752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2416" y="6711696"/>
            <a:ext cx="4846320" cy="1243584"/>
            <a:chOff x="0" y="0"/>
            <a:chExt cx="6461760" cy="16581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AI Shopping Tools — virtual try-ons and auto-recs help shoppers choose faster.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3959" y="8180327"/>
            <a:ext cx="281435" cy="281435"/>
            <a:chOff x="0" y="0"/>
            <a:chExt cx="375247" cy="37524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A2342"/>
            </a:solidFill>
            <a:ln w="25400" cap="sq">
              <a:solidFill>
                <a:srgbClr val="0A2342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42416" y="8083296"/>
            <a:ext cx="4846320" cy="1243584"/>
            <a:chOff x="0" y="0"/>
            <a:chExt cx="6461760" cy="16581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 Everywhere — 92% of festive shoppers buy more when they see a brand across multiple screens.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88103" y="4193543"/>
            <a:ext cx="5603243" cy="5511803"/>
            <a:chOff x="0" y="0"/>
            <a:chExt cx="7470991" cy="734907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471029" cy="7349109"/>
            </a:xfrm>
            <a:custGeom>
              <a:avLst/>
              <a:gdLst/>
              <a:ahLst/>
              <a:cxnLst/>
              <a:rect l="l" t="t" r="r" b="b"/>
              <a:pathLst>
                <a:path w="7471029" h="7349109">
                  <a:moveTo>
                    <a:pt x="0" y="0"/>
                  </a:moveTo>
                  <a:lnTo>
                    <a:pt x="7471029" y="0"/>
                  </a:lnTo>
                  <a:lnTo>
                    <a:pt x="747102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388103" y="4193543"/>
            <a:ext cx="5603243" cy="976379"/>
            <a:chOff x="0" y="0"/>
            <a:chExt cx="7470991" cy="130183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471029" cy="1301877"/>
            </a:xfrm>
            <a:custGeom>
              <a:avLst/>
              <a:gdLst/>
              <a:ahLst/>
              <a:cxnLst/>
              <a:rect l="l" t="t" r="r" b="b"/>
              <a:pathLst>
                <a:path w="7471029" h="1301877">
                  <a:moveTo>
                    <a:pt x="0" y="0"/>
                  </a:moveTo>
                  <a:lnTo>
                    <a:pt x="7471029" y="0"/>
                  </a:lnTo>
                  <a:lnTo>
                    <a:pt x="747102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620256" y="4297680"/>
            <a:ext cx="5120640" cy="694944"/>
            <a:chOff x="0" y="0"/>
            <a:chExt cx="6827520" cy="9265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Simple Steps to Follow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07559" y="5437127"/>
            <a:ext cx="281435" cy="281435"/>
            <a:chOff x="0" y="0"/>
            <a:chExt cx="375247" cy="37524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986016" y="5340096"/>
            <a:ext cx="4846320" cy="1243584"/>
            <a:chOff x="0" y="0"/>
            <a:chExt cx="6461760" cy="165811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Interactive Ads — replace flat banners with full-screen videos and playable games.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07559" y="6808727"/>
            <a:ext cx="281435" cy="281435"/>
            <a:chOff x="0" y="0"/>
            <a:chExt cx="375247" cy="37524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986016" y="6711696"/>
            <a:ext cx="4846320" cy="1243584"/>
            <a:chOff x="0" y="0"/>
            <a:chExt cx="6461760" cy="16581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Whole Families — run household-level campaigns, not just individual targeting.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07559" y="8180327"/>
            <a:ext cx="281435" cy="281435"/>
            <a:chOff x="0" y="0"/>
            <a:chExt cx="375247" cy="37524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A4A7A"/>
            </a:solidFill>
            <a:ln w="25400" cap="sq">
              <a:solidFill>
                <a:srgbClr val="1A4A7A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986016" y="8083296"/>
            <a:ext cx="4846320" cy="1243584"/>
            <a:chOff x="0" y="0"/>
            <a:chExt cx="6461760" cy="165811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 it Clean &amp; Beautiful — use premium visuals and trusted creators for safe, professional brand presence.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331703" y="4193543"/>
            <a:ext cx="5603243" cy="5511803"/>
            <a:chOff x="0" y="0"/>
            <a:chExt cx="7470991" cy="734907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471029" cy="7349109"/>
            </a:xfrm>
            <a:custGeom>
              <a:avLst/>
              <a:gdLst/>
              <a:ahLst/>
              <a:cxnLst/>
              <a:rect l="l" t="t" r="r" b="b"/>
              <a:pathLst>
                <a:path w="7471029" h="7349109">
                  <a:moveTo>
                    <a:pt x="0" y="0"/>
                  </a:moveTo>
                  <a:lnTo>
                    <a:pt x="7471029" y="0"/>
                  </a:lnTo>
                  <a:lnTo>
                    <a:pt x="747102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4F8FB"/>
            </a:solidFill>
            <a:ln w="25400" cap="sq">
              <a:solidFill>
                <a:srgbClr val="D6EAF8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2331703" y="4193543"/>
            <a:ext cx="5603243" cy="976379"/>
            <a:chOff x="0" y="0"/>
            <a:chExt cx="7470991" cy="130183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471029" cy="1301877"/>
            </a:xfrm>
            <a:custGeom>
              <a:avLst/>
              <a:gdLst/>
              <a:ahLst/>
              <a:cxnLst/>
              <a:rect l="l" t="t" r="r" b="b"/>
              <a:pathLst>
                <a:path w="7471029" h="1301877">
                  <a:moveTo>
                    <a:pt x="0" y="0"/>
                  </a:moveTo>
                  <a:lnTo>
                    <a:pt x="7471029" y="0"/>
                  </a:lnTo>
                  <a:lnTo>
                    <a:pt x="7471029" y="1301877"/>
                  </a:lnTo>
                  <a:lnTo>
                    <a:pt x="0" y="1301877"/>
                  </a:ln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2563856" y="4297680"/>
            <a:ext cx="5120640" cy="694944"/>
            <a:chOff x="0" y="0"/>
            <a:chExt cx="6827520" cy="9265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827520" cy="926592"/>
            </a:xfrm>
            <a:custGeom>
              <a:avLst/>
              <a:gdLst/>
              <a:ahLst/>
              <a:cxnLst/>
              <a:rect l="l" t="t" r="r" b="b"/>
              <a:pathLst>
                <a:path w="6827520" h="926592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73" b="-9357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682752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Stop the 8-Step Journey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551159" y="5437127"/>
            <a:ext cx="281435" cy="281435"/>
            <a:chOff x="0" y="0"/>
            <a:chExt cx="375247" cy="37524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2929616" y="5340096"/>
            <a:ext cx="4846320" cy="1243584"/>
            <a:chOff x="0" y="0"/>
            <a:chExt cx="6461760" cy="165811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Brands must stop making users click through 8-step paths to buy something.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551159" y="6808727"/>
            <a:ext cx="281435" cy="281435"/>
            <a:chOff x="0" y="0"/>
            <a:chExt cx="375247" cy="37524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929616" y="6711696"/>
            <a:ext cx="4846320" cy="1243584"/>
            <a:chOff x="0" y="0"/>
            <a:chExt cx="6461760" cy="165811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single-tap, instant-access experiences on the lock screen.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551159" y="8180327"/>
            <a:ext cx="281435" cy="281435"/>
            <a:chOff x="0" y="0"/>
            <a:chExt cx="375247" cy="375247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D7A8A"/>
            </a:solidFill>
            <a:ln w="25400" cap="sq">
              <a:solidFill>
                <a:srgbClr val="0D7A8A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2929616" y="8083296"/>
            <a:ext cx="4846320" cy="1243584"/>
            <a:chOff x="0" y="0"/>
            <a:chExt cx="6461760" cy="165811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461760" cy="1658112"/>
            </a:xfrm>
            <a:custGeom>
              <a:avLst/>
              <a:gdLst/>
              <a:ahLst/>
              <a:cxnLst/>
              <a:rect l="l" t="t" r="r" b="b"/>
              <a:pathLst>
                <a:path w="6461760" h="1658112">
                  <a:moveTo>
                    <a:pt x="0" y="0"/>
                  </a:moveTo>
                  <a:lnTo>
                    <a:pt x="6461760" y="0"/>
                  </a:lnTo>
                  <a:lnTo>
                    <a:pt x="64617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4" b="-25934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646176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639"/>
                </a:lnSpc>
                <a:spcBef>
                  <a:spcPct val="0"/>
                </a:spcBef>
              </a:pPr>
              <a:r>
                <a:rPr lang="en-US" sz="2199" u="none" strike="noStrike">
                  <a:solidFill>
                    <a:srgbClr val="3D5A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Leverage Glance AI to predict and serve relevant content before users even search for it.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1411</Words>
  <Application>Microsoft Office PowerPoint</Application>
  <PresentationFormat>Custom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 (MS) Bold</vt:lpstr>
      <vt:lpstr>Calibri (MS) Italics</vt:lpstr>
      <vt:lpstr>Calibri</vt:lpstr>
      <vt:lpstr>Arial Bold</vt:lpstr>
      <vt:lpstr>Calibri (MS)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InMobi_Strategy_Presentation.pptx</dc:title>
  <cp:lastModifiedBy>User</cp:lastModifiedBy>
  <cp:revision>2</cp:revision>
  <dcterms:created xsi:type="dcterms:W3CDTF">2006-08-16T00:00:00Z</dcterms:created>
  <dcterms:modified xsi:type="dcterms:W3CDTF">2026-05-28T13:20:19Z</dcterms:modified>
  <dc:identifier>DAHK8v9aBEA</dc:identifier>
</cp:coreProperties>
</file>